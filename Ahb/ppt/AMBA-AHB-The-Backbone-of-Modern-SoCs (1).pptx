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925" y="448945"/>
            <a:ext cx="11810365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9979" y="1416113"/>
            <a:ext cx="7656830" cy="5544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0"/>
            <a:ext cx="5486400" cy="8229600"/>
            <a:chOff x="9144000" y="0"/>
            <a:chExt cx="5486400" cy="8229600"/>
          </a:xfrm>
        </p:grpSpPr>
        <p:sp>
          <p:nvSpPr>
            <p:cNvPr id="3" name="object 3"/>
            <p:cNvSpPr/>
            <p:nvPr/>
          </p:nvSpPr>
          <p:spPr>
            <a:xfrm>
              <a:off x="9144000" y="0"/>
              <a:ext cx="5486400" cy="8229600"/>
            </a:xfrm>
            <a:custGeom>
              <a:avLst/>
              <a:gdLst/>
              <a:ahLst/>
              <a:cxnLst/>
              <a:rect l="l" t="t" r="r" b="b"/>
              <a:pathLst>
                <a:path w="5486400" h="8229600">
                  <a:moveTo>
                    <a:pt x="5486400" y="0"/>
                  </a:moveTo>
                  <a:lnTo>
                    <a:pt x="0" y="0"/>
                  </a:lnTo>
                  <a:lnTo>
                    <a:pt x="0" y="8229600"/>
                  </a:lnTo>
                  <a:lnTo>
                    <a:pt x="5486400" y="822960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9250" y="152400"/>
              <a:ext cx="5295900" cy="79248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1684" y="2684144"/>
            <a:ext cx="6931659" cy="1240790"/>
          </a:xfrm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 marR="5080">
              <a:lnSpc>
                <a:spcPts val="4880"/>
              </a:lnSpc>
              <a:spcBef>
                <a:spcPts val="10"/>
              </a:spcBef>
            </a:pPr>
            <a:r>
              <a:rPr dirty="0" sz="3900"/>
              <a:t>AMBA</a:t>
            </a:r>
            <a:r>
              <a:rPr dirty="0" sz="3900" spc="-225"/>
              <a:t> </a:t>
            </a:r>
            <a:r>
              <a:rPr dirty="0" sz="3900" spc="-70"/>
              <a:t>AHB:</a:t>
            </a:r>
            <a:r>
              <a:rPr dirty="0" sz="3900" spc="-170"/>
              <a:t> </a:t>
            </a:r>
            <a:r>
              <a:rPr dirty="0" sz="3900"/>
              <a:t>The</a:t>
            </a:r>
            <a:r>
              <a:rPr dirty="0" sz="3900" spc="-190"/>
              <a:t> </a:t>
            </a:r>
            <a:r>
              <a:rPr dirty="0" sz="3900" spc="-85"/>
              <a:t>Backbone</a:t>
            </a:r>
            <a:r>
              <a:rPr dirty="0" sz="3900" spc="-185"/>
              <a:t> </a:t>
            </a:r>
            <a:r>
              <a:rPr dirty="0" sz="3900" spc="-25"/>
              <a:t>of </a:t>
            </a:r>
            <a:r>
              <a:rPr dirty="0" sz="3900" spc="-80"/>
              <a:t>Modern</a:t>
            </a:r>
            <a:r>
              <a:rPr dirty="0" sz="3900" spc="-185"/>
              <a:t> </a:t>
            </a:r>
            <a:r>
              <a:rPr dirty="0" sz="3900" spc="40"/>
              <a:t>SoCs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781684" y="4216708"/>
            <a:ext cx="7228205" cy="65468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deep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dive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272424"/>
                </a:solidFill>
                <a:latin typeface="Tahoma"/>
                <a:cs typeface="Tahoma"/>
              </a:rPr>
              <a:t>ARM's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Advanced</a:t>
            </a:r>
            <a:r>
              <a:rPr dirty="0" sz="15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High-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performance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Bus</a:t>
            </a:r>
            <a:r>
              <a:rPr dirty="0" sz="155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protocol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transformed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billions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chips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communicate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550" spc="-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die.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0575" y="5124450"/>
            <a:ext cx="1962150" cy="371475"/>
          </a:xfrm>
          <a:custGeom>
            <a:avLst/>
            <a:gdLst/>
            <a:ahLst/>
            <a:cxnLst/>
            <a:rect l="l" t="t" r="r" b="b"/>
            <a:pathLst>
              <a:path w="1962150" h="371475">
                <a:moveTo>
                  <a:pt x="1895729" y="0"/>
                </a:moveTo>
                <a:lnTo>
                  <a:pt x="66395" y="0"/>
                </a:lnTo>
                <a:lnTo>
                  <a:pt x="40547" y="5216"/>
                </a:lnTo>
                <a:lnTo>
                  <a:pt x="19443" y="19446"/>
                </a:lnTo>
                <a:lnTo>
                  <a:pt x="5216" y="40558"/>
                </a:lnTo>
                <a:lnTo>
                  <a:pt x="0" y="66420"/>
                </a:lnTo>
                <a:lnTo>
                  <a:pt x="0" y="305054"/>
                </a:lnTo>
                <a:lnTo>
                  <a:pt x="5216" y="330916"/>
                </a:lnTo>
                <a:lnTo>
                  <a:pt x="19443" y="352028"/>
                </a:lnTo>
                <a:lnTo>
                  <a:pt x="40547" y="366258"/>
                </a:lnTo>
                <a:lnTo>
                  <a:pt x="66395" y="371475"/>
                </a:lnTo>
                <a:lnTo>
                  <a:pt x="1895729" y="371475"/>
                </a:lnTo>
                <a:lnTo>
                  <a:pt x="1921591" y="366258"/>
                </a:lnTo>
                <a:lnTo>
                  <a:pt x="1942703" y="352028"/>
                </a:lnTo>
                <a:lnTo>
                  <a:pt x="1956933" y="330916"/>
                </a:lnTo>
                <a:lnTo>
                  <a:pt x="1962150" y="305054"/>
                </a:lnTo>
                <a:lnTo>
                  <a:pt x="1962150" y="66420"/>
                </a:lnTo>
                <a:lnTo>
                  <a:pt x="1956933" y="40558"/>
                </a:lnTo>
                <a:lnTo>
                  <a:pt x="1942703" y="19446"/>
                </a:lnTo>
                <a:lnTo>
                  <a:pt x="1921591" y="5216"/>
                </a:lnTo>
                <a:lnTo>
                  <a:pt x="1895729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0747" y="5208016"/>
            <a:ext cx="175958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70">
                <a:solidFill>
                  <a:srgbClr val="272424"/>
                </a:solidFill>
                <a:latin typeface="Tahoma"/>
                <a:cs typeface="Tahoma"/>
              </a:rPr>
              <a:t>PROTOCOL</a:t>
            </a:r>
            <a:r>
              <a:rPr dirty="0" sz="12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272424"/>
                </a:solidFill>
                <a:latin typeface="Tahoma"/>
                <a:cs typeface="Tahoma"/>
              </a:rPr>
              <a:t>DEEP</a:t>
            </a:r>
            <a:r>
              <a:rPr dirty="0" sz="12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272424"/>
                </a:solidFill>
                <a:latin typeface="Tahoma"/>
                <a:cs typeface="Tahoma"/>
              </a:rPr>
              <a:t>DIVE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62326" y="5119751"/>
            <a:ext cx="1114425" cy="390525"/>
          </a:xfrm>
          <a:custGeom>
            <a:avLst/>
            <a:gdLst/>
            <a:ahLst/>
            <a:cxnLst/>
            <a:rect l="l" t="t" r="r" b="b"/>
            <a:pathLst>
              <a:path w="1114425" h="390525">
                <a:moveTo>
                  <a:pt x="0" y="67056"/>
                </a:moveTo>
                <a:lnTo>
                  <a:pt x="5262" y="40933"/>
                </a:lnTo>
                <a:lnTo>
                  <a:pt x="19621" y="19621"/>
                </a:lnTo>
                <a:lnTo>
                  <a:pt x="40933" y="5262"/>
                </a:lnTo>
                <a:lnTo>
                  <a:pt x="67056" y="0"/>
                </a:lnTo>
                <a:lnTo>
                  <a:pt x="1047241" y="0"/>
                </a:lnTo>
                <a:lnTo>
                  <a:pt x="1073384" y="5262"/>
                </a:lnTo>
                <a:lnTo>
                  <a:pt x="1094739" y="19621"/>
                </a:lnTo>
                <a:lnTo>
                  <a:pt x="1109142" y="40933"/>
                </a:lnTo>
                <a:lnTo>
                  <a:pt x="1114425" y="67056"/>
                </a:lnTo>
                <a:lnTo>
                  <a:pt x="1114425" y="323342"/>
                </a:lnTo>
                <a:lnTo>
                  <a:pt x="1109142" y="349484"/>
                </a:lnTo>
                <a:lnTo>
                  <a:pt x="1094739" y="370839"/>
                </a:lnTo>
                <a:lnTo>
                  <a:pt x="1073384" y="385242"/>
                </a:lnTo>
                <a:lnTo>
                  <a:pt x="1047241" y="390525"/>
                </a:lnTo>
                <a:lnTo>
                  <a:pt x="67056" y="390525"/>
                </a:lnTo>
                <a:lnTo>
                  <a:pt x="40933" y="385242"/>
                </a:lnTo>
                <a:lnTo>
                  <a:pt x="19621" y="370839"/>
                </a:lnTo>
                <a:lnTo>
                  <a:pt x="5262" y="349484"/>
                </a:lnTo>
                <a:lnTo>
                  <a:pt x="0" y="323342"/>
                </a:lnTo>
                <a:lnTo>
                  <a:pt x="0" y="67056"/>
                </a:lnTo>
                <a:close/>
              </a:path>
            </a:pathLst>
          </a:custGeom>
          <a:ln w="7620">
            <a:solidFill>
              <a:srgbClr val="4850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971545" y="5208016"/>
            <a:ext cx="88963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95">
                <a:solidFill>
                  <a:srgbClr val="4850BB"/>
                </a:solidFill>
                <a:latin typeface="Tahoma"/>
                <a:cs typeface="Tahoma"/>
              </a:rPr>
              <a:t>ARM</a:t>
            </a:r>
            <a:r>
              <a:rPr dirty="0" sz="1250" spc="-45">
                <a:solidFill>
                  <a:srgbClr val="4850BB"/>
                </a:solidFill>
                <a:latin typeface="Tahoma"/>
                <a:cs typeface="Tahoma"/>
              </a:rPr>
              <a:t> </a:t>
            </a:r>
            <a:r>
              <a:rPr dirty="0" sz="1250" spc="85">
                <a:solidFill>
                  <a:srgbClr val="4850BB"/>
                </a:solidFill>
                <a:latin typeface="Tahoma"/>
                <a:cs typeface="Tahoma"/>
              </a:rPr>
              <a:t>AMBA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486400" cy="8229600"/>
            <a:chOff x="0" y="0"/>
            <a:chExt cx="5486400" cy="82296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486400" cy="8229600"/>
            </a:xfrm>
            <a:custGeom>
              <a:avLst/>
              <a:gdLst/>
              <a:ahLst/>
              <a:cxnLst/>
              <a:rect l="l" t="t" r="r" b="b"/>
              <a:pathLst>
                <a:path w="5486400" h="8229600">
                  <a:moveTo>
                    <a:pt x="5486400" y="0"/>
                  </a:moveTo>
                  <a:lnTo>
                    <a:pt x="0" y="0"/>
                  </a:lnTo>
                  <a:lnTo>
                    <a:pt x="0" y="8229600"/>
                  </a:lnTo>
                  <a:lnTo>
                    <a:pt x="5486400" y="822960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" y="133350"/>
              <a:ext cx="5295900" cy="79629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182740" y="238506"/>
            <a:ext cx="7590790" cy="264922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860425">
              <a:lnSpc>
                <a:spcPts val="4500"/>
              </a:lnSpc>
              <a:spcBef>
                <a:spcPts val="105"/>
              </a:spcBef>
            </a:pPr>
            <a:r>
              <a:rPr dirty="0" sz="3600"/>
              <a:t>The</a:t>
            </a:r>
            <a:r>
              <a:rPr dirty="0" sz="3600" spc="-170"/>
              <a:t> </a:t>
            </a:r>
            <a:r>
              <a:rPr dirty="0" sz="3600" spc="-20"/>
              <a:t>Need</a:t>
            </a:r>
            <a:r>
              <a:rPr dirty="0" sz="3600" spc="-165"/>
              <a:t> </a:t>
            </a:r>
            <a:r>
              <a:rPr dirty="0" sz="3600" spc="-70"/>
              <a:t>for</a:t>
            </a:r>
            <a:r>
              <a:rPr dirty="0" sz="3600" spc="-195"/>
              <a:t> </a:t>
            </a:r>
            <a:r>
              <a:rPr dirty="0" sz="3600"/>
              <a:t>a</a:t>
            </a:r>
            <a:r>
              <a:rPr dirty="0" sz="3600" spc="-135"/>
              <a:t> </a:t>
            </a:r>
            <a:r>
              <a:rPr dirty="0" sz="3600" spc="-155"/>
              <a:t>Standard:</a:t>
            </a:r>
            <a:r>
              <a:rPr dirty="0" sz="3600" spc="-105"/>
              <a:t> </a:t>
            </a:r>
            <a:r>
              <a:rPr dirty="0" sz="3600" spc="-95"/>
              <a:t>From </a:t>
            </a:r>
            <a:r>
              <a:rPr dirty="0" sz="3600" spc="-100"/>
              <a:t>Microcontrollers</a:t>
            </a:r>
            <a:r>
              <a:rPr dirty="0" sz="3600" spc="-155"/>
              <a:t> </a:t>
            </a:r>
            <a:r>
              <a:rPr dirty="0" sz="3600" spc="-195"/>
              <a:t>to</a:t>
            </a:r>
            <a:r>
              <a:rPr dirty="0" sz="3600" spc="-75"/>
              <a:t> </a:t>
            </a:r>
            <a:r>
              <a:rPr dirty="0" sz="3600" spc="35"/>
              <a:t>SoCs</a:t>
            </a:r>
            <a:endParaRPr sz="3600"/>
          </a:p>
          <a:p>
            <a:pPr marL="12700" marR="5080">
              <a:lnSpc>
                <a:spcPct val="101699"/>
              </a:lnSpc>
              <a:spcBef>
                <a:spcPts val="665"/>
              </a:spcBef>
            </a:pPr>
            <a:r>
              <a:rPr dirty="0" sz="1800" spc="50" b="0">
                <a:solidFill>
                  <a:srgbClr val="272424"/>
                </a:solidFill>
                <a:latin typeface="Tahoma"/>
                <a:cs typeface="Tahoma"/>
              </a:rPr>
              <a:t>Early</a:t>
            </a:r>
            <a:r>
              <a:rPr dirty="0" sz="1800" spc="-6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 b="0">
                <a:solidFill>
                  <a:srgbClr val="272424"/>
                </a:solidFill>
                <a:latin typeface="Tahoma"/>
                <a:cs typeface="Tahoma"/>
              </a:rPr>
              <a:t>embedded</a:t>
            </a:r>
            <a:r>
              <a:rPr dirty="0" sz="1800" spc="-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 b="0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r>
              <a:rPr dirty="0" sz="1800" spc="-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 b="0">
                <a:solidFill>
                  <a:srgbClr val="272424"/>
                </a:solidFill>
                <a:latin typeface="Tahoma"/>
                <a:cs typeface="Tahoma"/>
              </a:rPr>
              <a:t>were</a:t>
            </a:r>
            <a:r>
              <a:rPr dirty="0" sz="1800" spc="-10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 b="0">
                <a:solidFill>
                  <a:srgbClr val="272424"/>
                </a:solidFill>
                <a:latin typeface="Tahoma"/>
                <a:cs typeface="Tahoma"/>
              </a:rPr>
              <a:t>elegantly</a:t>
            </a:r>
            <a:r>
              <a:rPr dirty="0" sz="1800" spc="1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 b="0">
                <a:solidFill>
                  <a:srgbClr val="272424"/>
                </a:solidFill>
                <a:latin typeface="Tahoma"/>
                <a:cs typeface="Tahoma"/>
              </a:rPr>
              <a:t>simple</a:t>
            </a:r>
            <a:r>
              <a:rPr dirty="0" sz="1800" spc="-1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45" b="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800" spc="-3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 b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800" spc="-6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0" b="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800" spc="-10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 b="0">
                <a:solidFill>
                  <a:srgbClr val="272424"/>
                </a:solidFill>
                <a:latin typeface="Tahoma"/>
                <a:cs typeface="Tahoma"/>
              </a:rPr>
              <a:t>processor, </a:t>
            </a:r>
            <a:r>
              <a:rPr dirty="0" sz="1800" spc="55" b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800" spc="-6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 b="0">
                <a:solidFill>
                  <a:srgbClr val="272424"/>
                </a:solidFill>
                <a:latin typeface="Tahoma"/>
                <a:cs typeface="Tahoma"/>
              </a:rPr>
              <a:t>handful</a:t>
            </a:r>
            <a:r>
              <a:rPr dirty="0" sz="1800" spc="-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 b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800" spc="-1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 b="0">
                <a:solidFill>
                  <a:srgbClr val="272424"/>
                </a:solidFill>
                <a:latin typeface="Tahoma"/>
                <a:cs typeface="Tahoma"/>
              </a:rPr>
              <a:t>peripherals,</a:t>
            </a:r>
            <a:r>
              <a:rPr dirty="0" sz="1800" spc="-1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 b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 b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800" spc="-5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 b="0">
                <a:solidFill>
                  <a:srgbClr val="272424"/>
                </a:solidFill>
                <a:latin typeface="Tahoma"/>
                <a:cs typeface="Tahoma"/>
              </a:rPr>
              <a:t>straightforward</a:t>
            </a:r>
            <a:r>
              <a:rPr dirty="0" sz="1800" spc="-7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0" b="0">
                <a:solidFill>
                  <a:srgbClr val="272424"/>
                </a:solidFill>
                <a:latin typeface="Tahoma"/>
                <a:cs typeface="Tahoma"/>
              </a:rPr>
              <a:t>bus.</a:t>
            </a:r>
            <a:r>
              <a:rPr dirty="0" sz="1800" spc="-1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b="0">
                <a:solidFill>
                  <a:srgbClr val="272424"/>
                </a:solidFill>
                <a:latin typeface="Tahoma"/>
                <a:cs typeface="Tahoma"/>
              </a:rPr>
              <a:t>But</a:t>
            </a:r>
            <a:r>
              <a:rPr dirty="0" sz="1800" spc="-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14" b="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800" spc="-7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 b="0">
                <a:solidFill>
                  <a:srgbClr val="272424"/>
                </a:solidFill>
                <a:latin typeface="Tahoma"/>
                <a:cs typeface="Tahoma"/>
              </a:rPr>
              <a:t>silicon </a:t>
            </a:r>
            <a:r>
              <a:rPr dirty="0" sz="1800" spc="75" b="0">
                <a:solidFill>
                  <a:srgbClr val="272424"/>
                </a:solidFill>
                <a:latin typeface="Tahoma"/>
                <a:cs typeface="Tahoma"/>
              </a:rPr>
              <a:t>technology</a:t>
            </a:r>
            <a:r>
              <a:rPr dirty="0" sz="1800" spc="-6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0" b="0">
                <a:solidFill>
                  <a:srgbClr val="272424"/>
                </a:solidFill>
                <a:latin typeface="Tahoma"/>
                <a:cs typeface="Tahoma"/>
              </a:rPr>
              <a:t>advanced,</a:t>
            </a:r>
            <a:r>
              <a:rPr dirty="0" sz="1800" spc="-2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5" b="0">
                <a:solidFill>
                  <a:srgbClr val="272424"/>
                </a:solidFill>
                <a:latin typeface="Tahoma"/>
                <a:cs typeface="Tahoma"/>
              </a:rPr>
              <a:t>System-</a:t>
            </a:r>
            <a:r>
              <a:rPr dirty="0" sz="1800" spc="105" b="0">
                <a:solidFill>
                  <a:srgbClr val="272424"/>
                </a:solidFill>
                <a:latin typeface="Tahoma"/>
                <a:cs typeface="Tahoma"/>
              </a:rPr>
              <a:t>on-</a:t>
            </a:r>
            <a:r>
              <a:rPr dirty="0" sz="1800" spc="110" b="0">
                <a:solidFill>
                  <a:srgbClr val="272424"/>
                </a:solidFill>
                <a:latin typeface="Tahoma"/>
                <a:cs typeface="Tahoma"/>
              </a:rPr>
              <a:t>Chip</a:t>
            </a:r>
            <a:r>
              <a:rPr dirty="0" sz="1800" spc="-7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 b="0">
                <a:solidFill>
                  <a:srgbClr val="272424"/>
                </a:solidFill>
                <a:latin typeface="Tahoma"/>
                <a:cs typeface="Tahoma"/>
              </a:rPr>
              <a:t>(SoC)</a:t>
            </a:r>
            <a:r>
              <a:rPr dirty="0" sz="1800" spc="-1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 b="0">
                <a:solidFill>
                  <a:srgbClr val="272424"/>
                </a:solidFill>
                <a:latin typeface="Tahoma"/>
                <a:cs typeface="Tahoma"/>
              </a:rPr>
              <a:t>designs</a:t>
            </a:r>
            <a:r>
              <a:rPr dirty="0" sz="1800" spc="-8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 b="0">
                <a:solidFill>
                  <a:srgbClr val="272424"/>
                </a:solidFill>
                <a:latin typeface="Tahoma"/>
                <a:cs typeface="Tahoma"/>
              </a:rPr>
              <a:t>began </a:t>
            </a:r>
            <a:r>
              <a:rPr dirty="0" sz="1800" spc="10" b="0">
                <a:solidFill>
                  <a:srgbClr val="272424"/>
                </a:solidFill>
                <a:latin typeface="Tahoma"/>
                <a:cs typeface="Tahoma"/>
              </a:rPr>
              <a:t>integrating</a:t>
            </a:r>
            <a:r>
              <a:rPr dirty="0" sz="1800" spc="-4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14" b="0">
                <a:solidFill>
                  <a:srgbClr val="272424"/>
                </a:solidFill>
                <a:latin typeface="Tahoma"/>
                <a:cs typeface="Tahoma"/>
              </a:rPr>
              <a:t>dozens</a:t>
            </a:r>
            <a:r>
              <a:rPr dirty="0" sz="1800" spc="-3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10" b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800" spc="-5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 b="0">
                <a:solidFill>
                  <a:srgbClr val="272424"/>
                </a:solidFill>
                <a:latin typeface="Tahoma"/>
                <a:cs typeface="Tahoma"/>
              </a:rPr>
              <a:t>complex</a:t>
            </a:r>
            <a:r>
              <a:rPr dirty="0" sz="1800" spc="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 b="0">
                <a:solidFill>
                  <a:srgbClr val="272424"/>
                </a:solidFill>
                <a:latin typeface="Tahoma"/>
                <a:cs typeface="Tahoma"/>
              </a:rPr>
              <a:t>functional</a:t>
            </a:r>
            <a:r>
              <a:rPr dirty="0" sz="1800" spc="3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 b="0">
                <a:solidFill>
                  <a:srgbClr val="272424"/>
                </a:solidFill>
                <a:latin typeface="Tahoma"/>
                <a:cs typeface="Tahoma"/>
              </a:rPr>
              <a:t>blocks:</a:t>
            </a:r>
            <a:r>
              <a:rPr dirty="0" sz="1800" spc="2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20" b="0">
                <a:solidFill>
                  <a:srgbClr val="272424"/>
                </a:solidFill>
                <a:latin typeface="Tahoma"/>
                <a:cs typeface="Tahoma"/>
              </a:rPr>
              <a:t>CPUs,</a:t>
            </a:r>
            <a:r>
              <a:rPr dirty="0" sz="1800" spc="2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14" b="0">
                <a:solidFill>
                  <a:srgbClr val="272424"/>
                </a:solidFill>
                <a:latin typeface="Tahoma"/>
                <a:cs typeface="Tahoma"/>
              </a:rPr>
              <a:t>GPUs,</a:t>
            </a:r>
            <a:r>
              <a:rPr dirty="0" sz="1800" spc="-5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 b="0">
                <a:solidFill>
                  <a:srgbClr val="272424"/>
                </a:solidFill>
                <a:latin typeface="Tahoma"/>
                <a:cs typeface="Tahoma"/>
              </a:rPr>
              <a:t>DSPs, </a:t>
            </a:r>
            <a:r>
              <a:rPr dirty="0" sz="1800" spc="65" b="0">
                <a:solidFill>
                  <a:srgbClr val="272424"/>
                </a:solidFill>
                <a:latin typeface="Tahoma"/>
                <a:cs typeface="Tahoma"/>
              </a:rPr>
              <a:t>memory</a:t>
            </a:r>
            <a:r>
              <a:rPr dirty="0" sz="1800" spc="-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 b="0">
                <a:solidFill>
                  <a:srgbClr val="272424"/>
                </a:solidFill>
                <a:latin typeface="Tahoma"/>
                <a:cs typeface="Tahoma"/>
              </a:rPr>
              <a:t>controllers,</a:t>
            </a:r>
            <a:r>
              <a:rPr dirty="0" sz="1800" spc="-3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 b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-8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0">
                <a:solidFill>
                  <a:srgbClr val="272424"/>
                </a:solidFill>
                <a:latin typeface="Tahoma"/>
                <a:cs typeface="Tahoma"/>
              </a:rPr>
              <a:t>I/O</a:t>
            </a:r>
            <a:r>
              <a:rPr dirty="0" sz="1800" spc="1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 b="0">
                <a:solidFill>
                  <a:srgbClr val="272424"/>
                </a:solidFill>
                <a:latin typeface="Tahoma"/>
                <a:cs typeface="Tahoma"/>
              </a:rPr>
              <a:t>interfaces</a:t>
            </a:r>
            <a:r>
              <a:rPr dirty="0" sz="1800" spc="1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60" b="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800" spc="-4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b="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800" spc="-2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 b="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800" spc="-4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 b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80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 b="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800" spc="-3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20" b="0">
                <a:solidFill>
                  <a:srgbClr val="272424"/>
                </a:solidFill>
                <a:latin typeface="Tahoma"/>
                <a:cs typeface="Tahoma"/>
              </a:rPr>
              <a:t>die.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91250" y="3246120"/>
            <a:ext cx="7717155" cy="1384935"/>
            <a:chOff x="6191250" y="3246120"/>
            <a:chExt cx="7717155" cy="1384935"/>
          </a:xfrm>
        </p:grpSpPr>
        <p:sp>
          <p:nvSpPr>
            <p:cNvPr id="7" name="object 7"/>
            <p:cNvSpPr/>
            <p:nvPr/>
          </p:nvSpPr>
          <p:spPr>
            <a:xfrm>
              <a:off x="6219825" y="3257550"/>
              <a:ext cx="7677150" cy="1362075"/>
            </a:xfrm>
            <a:custGeom>
              <a:avLst/>
              <a:gdLst/>
              <a:ahLst/>
              <a:cxnLst/>
              <a:rect l="l" t="t" r="r" b="b"/>
              <a:pathLst>
                <a:path w="7677150" h="1362075">
                  <a:moveTo>
                    <a:pt x="0" y="109854"/>
                  </a:moveTo>
                  <a:lnTo>
                    <a:pt x="8628" y="67079"/>
                  </a:lnTo>
                  <a:lnTo>
                    <a:pt x="32162" y="32162"/>
                  </a:lnTo>
                  <a:lnTo>
                    <a:pt x="67079" y="8628"/>
                  </a:lnTo>
                  <a:lnTo>
                    <a:pt x="109854" y="0"/>
                  </a:lnTo>
                  <a:lnTo>
                    <a:pt x="7567294" y="0"/>
                  </a:lnTo>
                  <a:lnTo>
                    <a:pt x="7610070" y="8628"/>
                  </a:lnTo>
                  <a:lnTo>
                    <a:pt x="7644987" y="32162"/>
                  </a:lnTo>
                  <a:lnTo>
                    <a:pt x="7668521" y="67079"/>
                  </a:lnTo>
                  <a:lnTo>
                    <a:pt x="7677150" y="109854"/>
                  </a:lnTo>
                  <a:lnTo>
                    <a:pt x="7677150" y="1252220"/>
                  </a:lnTo>
                  <a:lnTo>
                    <a:pt x="7668521" y="1294995"/>
                  </a:lnTo>
                  <a:lnTo>
                    <a:pt x="7644987" y="1329912"/>
                  </a:lnTo>
                  <a:lnTo>
                    <a:pt x="7610070" y="1353446"/>
                  </a:lnTo>
                  <a:lnTo>
                    <a:pt x="7567294" y="1362075"/>
                  </a:lnTo>
                  <a:lnTo>
                    <a:pt x="109854" y="1362075"/>
                  </a:lnTo>
                  <a:lnTo>
                    <a:pt x="67079" y="1353446"/>
                  </a:lnTo>
                  <a:lnTo>
                    <a:pt x="32162" y="1329912"/>
                  </a:lnTo>
                  <a:lnTo>
                    <a:pt x="8628" y="1294995"/>
                  </a:lnTo>
                  <a:lnTo>
                    <a:pt x="0" y="1252220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191250" y="3257550"/>
              <a:ext cx="95250" cy="1362075"/>
            </a:xfrm>
            <a:custGeom>
              <a:avLst/>
              <a:gdLst/>
              <a:ahLst/>
              <a:cxnLst/>
              <a:rect l="l" t="t" r="r" b="b"/>
              <a:pathLst>
                <a:path w="95250" h="1362075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1314450"/>
                  </a:lnTo>
                  <a:lnTo>
                    <a:pt x="3744" y="1332982"/>
                  </a:lnTo>
                  <a:lnTo>
                    <a:pt x="13954" y="1348120"/>
                  </a:lnTo>
                  <a:lnTo>
                    <a:pt x="29092" y="1358330"/>
                  </a:lnTo>
                  <a:lnTo>
                    <a:pt x="47625" y="1362075"/>
                  </a:lnTo>
                  <a:lnTo>
                    <a:pt x="66157" y="1358330"/>
                  </a:lnTo>
                  <a:lnTo>
                    <a:pt x="81295" y="1348120"/>
                  </a:lnTo>
                  <a:lnTo>
                    <a:pt x="91505" y="1332982"/>
                  </a:lnTo>
                  <a:lnTo>
                    <a:pt x="95250" y="1314450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483984" y="3447478"/>
            <a:ext cx="6904355" cy="945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272424"/>
                </a:solidFill>
                <a:latin typeface="Tahoma"/>
                <a:cs typeface="Tahoma"/>
              </a:rPr>
              <a:t>Old</a:t>
            </a:r>
            <a:r>
              <a:rPr dirty="0" sz="1800" spc="-8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272424"/>
                </a:solidFill>
                <a:latin typeface="Tahoma"/>
                <a:cs typeface="Tahoma"/>
              </a:rPr>
              <a:t>World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720"/>
              </a:spcBef>
            </a:pPr>
            <a:r>
              <a:rPr dirty="0" sz="1400" spc="65">
                <a:solidFill>
                  <a:srgbClr val="272424"/>
                </a:solidFill>
                <a:latin typeface="Tahoma"/>
                <a:cs typeface="Tahoma"/>
              </a:rPr>
              <a:t>Single-</a:t>
            </a:r>
            <a:r>
              <a:rPr dirty="0" sz="1400" spc="75">
                <a:solidFill>
                  <a:srgbClr val="272424"/>
                </a:solidFill>
                <a:latin typeface="Tahoma"/>
                <a:cs typeface="Tahoma"/>
              </a:rPr>
              <a:t>processor</a:t>
            </a:r>
            <a:r>
              <a:rPr dirty="0" sz="14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microcontrollers</a:t>
            </a:r>
            <a:r>
              <a:rPr dirty="0" sz="14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400" spc="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proprietary,</a:t>
            </a:r>
            <a:r>
              <a:rPr dirty="0" sz="1400" spc="90">
                <a:solidFill>
                  <a:srgbClr val="272424"/>
                </a:solidFill>
                <a:latin typeface="Tahoma"/>
                <a:cs typeface="Tahoma"/>
              </a:rPr>
              <a:t> ad-</a:t>
            </a:r>
            <a:r>
              <a:rPr dirty="0" sz="1400" spc="85">
                <a:solidFill>
                  <a:srgbClr val="272424"/>
                </a:solidFill>
                <a:latin typeface="Tahoma"/>
                <a:cs typeface="Tahoma"/>
              </a:rPr>
              <a:t>hoc</a:t>
            </a:r>
            <a:r>
              <a:rPr dirty="0" sz="14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interconnects.</a:t>
            </a:r>
            <a:r>
              <a:rPr dirty="0" sz="140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Tahoma"/>
                <a:cs typeface="Tahoma"/>
              </a:rPr>
              <a:t>Simple,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but</a:t>
            </a:r>
            <a:r>
              <a:rPr dirty="0" sz="140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inflexible</a:t>
            </a:r>
            <a:r>
              <a:rPr dirty="0" sz="1400" spc="2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400" spc="1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272424"/>
                </a:solidFill>
                <a:latin typeface="Tahoma"/>
                <a:cs typeface="Tahoma"/>
              </a:rPr>
              <a:t>non-</a:t>
            </a:r>
            <a:r>
              <a:rPr dirty="0" sz="1400" spc="40">
                <a:solidFill>
                  <a:srgbClr val="272424"/>
                </a:solidFill>
                <a:latin typeface="Tahoma"/>
                <a:cs typeface="Tahoma"/>
              </a:rPr>
              <a:t>scalable.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91250" y="4779645"/>
            <a:ext cx="7717155" cy="1384935"/>
            <a:chOff x="6191250" y="4779645"/>
            <a:chExt cx="7717155" cy="1384935"/>
          </a:xfrm>
        </p:grpSpPr>
        <p:sp>
          <p:nvSpPr>
            <p:cNvPr id="11" name="object 11"/>
            <p:cNvSpPr/>
            <p:nvPr/>
          </p:nvSpPr>
          <p:spPr>
            <a:xfrm>
              <a:off x="6219825" y="4791075"/>
              <a:ext cx="7677150" cy="1362075"/>
            </a:xfrm>
            <a:custGeom>
              <a:avLst/>
              <a:gdLst/>
              <a:ahLst/>
              <a:cxnLst/>
              <a:rect l="l" t="t" r="r" b="b"/>
              <a:pathLst>
                <a:path w="7677150" h="1362075">
                  <a:moveTo>
                    <a:pt x="0" y="109854"/>
                  </a:moveTo>
                  <a:lnTo>
                    <a:pt x="8628" y="67079"/>
                  </a:lnTo>
                  <a:lnTo>
                    <a:pt x="32162" y="32162"/>
                  </a:lnTo>
                  <a:lnTo>
                    <a:pt x="67079" y="8628"/>
                  </a:lnTo>
                  <a:lnTo>
                    <a:pt x="109854" y="0"/>
                  </a:lnTo>
                  <a:lnTo>
                    <a:pt x="7567294" y="0"/>
                  </a:lnTo>
                  <a:lnTo>
                    <a:pt x="7610070" y="8628"/>
                  </a:lnTo>
                  <a:lnTo>
                    <a:pt x="7644987" y="32162"/>
                  </a:lnTo>
                  <a:lnTo>
                    <a:pt x="7668521" y="67079"/>
                  </a:lnTo>
                  <a:lnTo>
                    <a:pt x="7677150" y="109854"/>
                  </a:lnTo>
                  <a:lnTo>
                    <a:pt x="7677150" y="1252220"/>
                  </a:lnTo>
                  <a:lnTo>
                    <a:pt x="7668521" y="1294995"/>
                  </a:lnTo>
                  <a:lnTo>
                    <a:pt x="7644987" y="1329912"/>
                  </a:lnTo>
                  <a:lnTo>
                    <a:pt x="7610070" y="1353446"/>
                  </a:lnTo>
                  <a:lnTo>
                    <a:pt x="7567294" y="1362075"/>
                  </a:lnTo>
                  <a:lnTo>
                    <a:pt x="109854" y="1362075"/>
                  </a:lnTo>
                  <a:lnTo>
                    <a:pt x="67079" y="1353446"/>
                  </a:lnTo>
                  <a:lnTo>
                    <a:pt x="32162" y="1329912"/>
                  </a:lnTo>
                  <a:lnTo>
                    <a:pt x="8628" y="1294995"/>
                  </a:lnTo>
                  <a:lnTo>
                    <a:pt x="0" y="1252220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191250" y="4791075"/>
              <a:ext cx="95250" cy="1362075"/>
            </a:xfrm>
            <a:custGeom>
              <a:avLst/>
              <a:gdLst/>
              <a:ahLst/>
              <a:cxnLst/>
              <a:rect l="l" t="t" r="r" b="b"/>
              <a:pathLst>
                <a:path w="95250" h="1362075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1314450"/>
                  </a:lnTo>
                  <a:lnTo>
                    <a:pt x="3744" y="1332982"/>
                  </a:lnTo>
                  <a:lnTo>
                    <a:pt x="13954" y="1348120"/>
                  </a:lnTo>
                  <a:lnTo>
                    <a:pt x="29092" y="1358330"/>
                  </a:lnTo>
                  <a:lnTo>
                    <a:pt x="47625" y="1362075"/>
                  </a:lnTo>
                  <a:lnTo>
                    <a:pt x="66157" y="1358330"/>
                  </a:lnTo>
                  <a:lnTo>
                    <a:pt x="81295" y="1348120"/>
                  </a:lnTo>
                  <a:lnTo>
                    <a:pt x="91505" y="1332982"/>
                  </a:lnTo>
                  <a:lnTo>
                    <a:pt x="95250" y="1314450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483984" y="4978971"/>
            <a:ext cx="6158230" cy="945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80" b="1">
                <a:solidFill>
                  <a:srgbClr val="272424"/>
                </a:solidFill>
                <a:latin typeface="Tahoma"/>
                <a:cs typeface="Tahoma"/>
              </a:rPr>
              <a:t>New</a:t>
            </a:r>
            <a:r>
              <a:rPr dirty="0" sz="1800" spc="-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Challenge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720"/>
              </a:spcBef>
            </a:pPr>
            <a:r>
              <a:rPr dirty="0" sz="1400" spc="9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272424"/>
                </a:solidFill>
                <a:latin typeface="Tahoma"/>
                <a:cs typeface="Tahoma"/>
              </a:rPr>
              <a:t>do</a:t>
            </a:r>
            <a:r>
              <a:rPr dirty="0" sz="140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you</a:t>
            </a:r>
            <a:r>
              <a:rPr dirty="0" sz="140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72424"/>
                </a:solidFill>
                <a:latin typeface="Tahoma"/>
                <a:cs typeface="Tahoma"/>
              </a:rPr>
              <a:t>efficiently</a:t>
            </a:r>
            <a:r>
              <a:rPr dirty="0" sz="14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272424"/>
                </a:solidFill>
                <a:latin typeface="Tahoma"/>
                <a:cs typeface="Tahoma"/>
              </a:rPr>
              <a:t>connect,</a:t>
            </a:r>
            <a:r>
              <a:rPr dirty="0" sz="14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72424"/>
                </a:solidFill>
                <a:latin typeface="Tahoma"/>
                <a:cs typeface="Tahoma"/>
              </a:rPr>
              <a:t>arbitrate,</a:t>
            </a:r>
            <a:r>
              <a:rPr dirty="0" sz="14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4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72424"/>
                </a:solidFill>
                <a:latin typeface="Tahoma"/>
                <a:cs typeface="Tahoma"/>
              </a:rPr>
              <a:t>manage</a:t>
            </a:r>
            <a:r>
              <a:rPr dirty="0" sz="1400" spc="1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272424"/>
                </a:solidFill>
                <a:latin typeface="Tahoma"/>
                <a:cs typeface="Tahoma"/>
              </a:rPr>
              <a:t>dozens</a:t>
            </a:r>
            <a:r>
              <a:rPr dirty="0" sz="1400" spc="1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4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diverse </a:t>
            </a:r>
            <a:r>
              <a:rPr dirty="0" sz="1400" spc="65">
                <a:solidFill>
                  <a:srgbClr val="272424"/>
                </a:solidFill>
                <a:latin typeface="Tahoma"/>
                <a:cs typeface="Tahoma"/>
              </a:rPr>
              <a:t>components</a:t>
            </a:r>
            <a:r>
              <a:rPr dirty="0" sz="14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40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4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272424"/>
                </a:solidFill>
                <a:latin typeface="Tahoma"/>
                <a:cs typeface="Tahoma"/>
              </a:rPr>
              <a:t>chip</a:t>
            </a:r>
            <a:r>
              <a:rPr dirty="0" sz="14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without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272424"/>
                </a:solidFill>
                <a:latin typeface="Tahoma"/>
                <a:cs typeface="Tahoma"/>
              </a:rPr>
              <a:t>chaos?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1250" y="6303645"/>
            <a:ext cx="7717155" cy="1384935"/>
            <a:chOff x="6191250" y="6303645"/>
            <a:chExt cx="7717155" cy="1384935"/>
          </a:xfrm>
        </p:grpSpPr>
        <p:sp>
          <p:nvSpPr>
            <p:cNvPr id="15" name="object 15"/>
            <p:cNvSpPr/>
            <p:nvPr/>
          </p:nvSpPr>
          <p:spPr>
            <a:xfrm>
              <a:off x="6219825" y="6315075"/>
              <a:ext cx="7677150" cy="1362075"/>
            </a:xfrm>
            <a:custGeom>
              <a:avLst/>
              <a:gdLst/>
              <a:ahLst/>
              <a:cxnLst/>
              <a:rect l="l" t="t" r="r" b="b"/>
              <a:pathLst>
                <a:path w="7677150" h="1362075">
                  <a:moveTo>
                    <a:pt x="0" y="109855"/>
                  </a:moveTo>
                  <a:lnTo>
                    <a:pt x="8628" y="67079"/>
                  </a:lnTo>
                  <a:lnTo>
                    <a:pt x="32162" y="32162"/>
                  </a:lnTo>
                  <a:lnTo>
                    <a:pt x="67079" y="8628"/>
                  </a:lnTo>
                  <a:lnTo>
                    <a:pt x="109854" y="0"/>
                  </a:lnTo>
                  <a:lnTo>
                    <a:pt x="7567294" y="0"/>
                  </a:lnTo>
                  <a:lnTo>
                    <a:pt x="7610070" y="8628"/>
                  </a:lnTo>
                  <a:lnTo>
                    <a:pt x="7644987" y="32162"/>
                  </a:lnTo>
                  <a:lnTo>
                    <a:pt x="7668521" y="67079"/>
                  </a:lnTo>
                  <a:lnTo>
                    <a:pt x="7677150" y="109855"/>
                  </a:lnTo>
                  <a:lnTo>
                    <a:pt x="7677150" y="1252270"/>
                  </a:lnTo>
                  <a:lnTo>
                    <a:pt x="7668521" y="1295011"/>
                  </a:lnTo>
                  <a:lnTo>
                    <a:pt x="7644987" y="1329913"/>
                  </a:lnTo>
                  <a:lnTo>
                    <a:pt x="7610070" y="1353445"/>
                  </a:lnTo>
                  <a:lnTo>
                    <a:pt x="7567294" y="1362075"/>
                  </a:lnTo>
                  <a:lnTo>
                    <a:pt x="109854" y="1362075"/>
                  </a:lnTo>
                  <a:lnTo>
                    <a:pt x="67079" y="1353445"/>
                  </a:lnTo>
                  <a:lnTo>
                    <a:pt x="32162" y="1329913"/>
                  </a:lnTo>
                  <a:lnTo>
                    <a:pt x="8628" y="1295011"/>
                  </a:lnTo>
                  <a:lnTo>
                    <a:pt x="0" y="1252270"/>
                  </a:lnTo>
                  <a:lnTo>
                    <a:pt x="0" y="109855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91250" y="6315075"/>
              <a:ext cx="95250" cy="1362075"/>
            </a:xfrm>
            <a:custGeom>
              <a:avLst/>
              <a:gdLst/>
              <a:ahLst/>
              <a:cxnLst/>
              <a:rect l="l" t="t" r="r" b="b"/>
              <a:pathLst>
                <a:path w="95250" h="1362075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1314450"/>
                  </a:lnTo>
                  <a:lnTo>
                    <a:pt x="3744" y="1332987"/>
                  </a:lnTo>
                  <a:lnTo>
                    <a:pt x="13954" y="1348125"/>
                  </a:lnTo>
                  <a:lnTo>
                    <a:pt x="29092" y="1358332"/>
                  </a:lnTo>
                  <a:lnTo>
                    <a:pt x="47625" y="1362075"/>
                  </a:lnTo>
                  <a:lnTo>
                    <a:pt x="66157" y="1358332"/>
                  </a:lnTo>
                  <a:lnTo>
                    <a:pt x="81295" y="1348125"/>
                  </a:lnTo>
                  <a:lnTo>
                    <a:pt x="91505" y="1332987"/>
                  </a:lnTo>
                  <a:lnTo>
                    <a:pt x="95250" y="1314450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483984" y="6510591"/>
            <a:ext cx="6918959" cy="945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Answer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720"/>
              </a:spcBef>
            </a:pPr>
            <a:r>
              <a:rPr dirty="0" sz="1400" spc="14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4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standardized,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272424"/>
                </a:solidFill>
                <a:latin typeface="Tahoma"/>
                <a:cs typeface="Tahoma"/>
              </a:rPr>
              <a:t>open</a:t>
            </a:r>
            <a:r>
              <a:rPr dirty="0" sz="140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interconnect</a:t>
            </a:r>
            <a:r>
              <a:rPr dirty="0" sz="14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272424"/>
                </a:solidFill>
                <a:latin typeface="Tahoma"/>
                <a:cs typeface="Tahoma"/>
              </a:rPr>
              <a:t>specification</a:t>
            </a:r>
            <a:r>
              <a:rPr dirty="0" sz="140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40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272424"/>
                </a:solidFill>
                <a:latin typeface="Tahoma"/>
                <a:cs typeface="Tahoma"/>
              </a:rPr>
              <a:t>enables</a:t>
            </a:r>
            <a:r>
              <a:rPr dirty="0" sz="140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IP</a:t>
            </a:r>
            <a:r>
              <a:rPr dirty="0" sz="140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reuse,</a:t>
            </a:r>
            <a:r>
              <a:rPr dirty="0" sz="140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272424"/>
                </a:solidFill>
                <a:latin typeface="Tahoma"/>
                <a:cs typeface="Tahoma"/>
              </a:rPr>
              <a:t>predictable 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performance,</a:t>
            </a:r>
            <a:r>
              <a:rPr dirty="0" sz="14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400" spc="1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right-</a:t>
            </a:r>
            <a:r>
              <a:rPr dirty="0" sz="1400" spc="50">
                <a:solidFill>
                  <a:srgbClr val="272424"/>
                </a:solidFill>
                <a:latin typeface="Tahoma"/>
                <a:cs typeface="Tahoma"/>
              </a:rPr>
              <a:t>first-</a:t>
            </a:r>
            <a:r>
              <a:rPr dirty="0" sz="140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140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272424"/>
                </a:solidFill>
                <a:latin typeface="Tahoma"/>
                <a:cs typeface="Tahoma"/>
              </a:rPr>
              <a:t>design.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684" y="618871"/>
            <a:ext cx="12722860" cy="621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00" spc="-170"/>
              <a:t>Enter</a:t>
            </a:r>
            <a:r>
              <a:rPr dirty="0" sz="3900" spc="-114"/>
              <a:t> </a:t>
            </a:r>
            <a:r>
              <a:rPr dirty="0" sz="3900" spc="-60"/>
              <a:t>AMBA:</a:t>
            </a:r>
            <a:r>
              <a:rPr dirty="0" sz="3900" spc="-225"/>
              <a:t> </a:t>
            </a:r>
            <a:r>
              <a:rPr dirty="0" sz="3900"/>
              <a:t>ARM's</a:t>
            </a:r>
            <a:r>
              <a:rPr dirty="0" sz="3900" spc="-245"/>
              <a:t> </a:t>
            </a:r>
            <a:r>
              <a:rPr dirty="0" sz="3900" spc="-170"/>
              <a:t>Solution</a:t>
            </a:r>
            <a:r>
              <a:rPr dirty="0" sz="3900" spc="-114"/>
              <a:t> </a:t>
            </a:r>
            <a:r>
              <a:rPr dirty="0" sz="3900" spc="-50"/>
              <a:t>for</a:t>
            </a:r>
            <a:r>
              <a:rPr dirty="0" sz="3900" spc="-200"/>
              <a:t> </a:t>
            </a:r>
            <a:r>
              <a:rPr dirty="0" sz="3900" spc="-20"/>
              <a:t>On-</a:t>
            </a:r>
            <a:r>
              <a:rPr dirty="0" sz="3900" spc="-10"/>
              <a:t>Chip</a:t>
            </a:r>
            <a:r>
              <a:rPr dirty="0" sz="3900" spc="-220"/>
              <a:t> </a:t>
            </a:r>
            <a:r>
              <a:rPr dirty="0" sz="3900" spc="-150"/>
              <a:t>Interconnect</a:t>
            </a:r>
            <a:endParaRPr sz="3900"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754" y="3458274"/>
            <a:ext cx="3828196" cy="32119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700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315"/>
              </a:spcBef>
            </a:pPr>
            <a:r>
              <a:rPr dirty="0" spc="-114"/>
              <a:t>What</a:t>
            </a:r>
            <a:r>
              <a:rPr dirty="0" spc="-40"/>
              <a:t> </a:t>
            </a:r>
            <a:r>
              <a:rPr dirty="0" spc="-175"/>
              <a:t>Is</a:t>
            </a:r>
            <a:r>
              <a:rPr dirty="0" spc="-65"/>
              <a:t> </a:t>
            </a:r>
            <a:r>
              <a:rPr dirty="0" spc="-20"/>
              <a:t>AMBA?</a:t>
            </a:r>
          </a:p>
          <a:p>
            <a:pPr marL="12700" marR="5080">
              <a:lnSpc>
                <a:spcPct val="104000"/>
              </a:lnSpc>
              <a:spcBef>
                <a:spcPts val="1120"/>
              </a:spcBef>
            </a:pPr>
            <a:r>
              <a:rPr dirty="0" spc="185" b="0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pc="-5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00" b="0">
                <a:solidFill>
                  <a:srgbClr val="272424"/>
                </a:solidFill>
                <a:latin typeface="Tahoma"/>
                <a:cs typeface="Tahoma"/>
              </a:rPr>
              <a:t>(Advanced</a:t>
            </a:r>
            <a:r>
              <a:rPr dirty="0" spc="-4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272424"/>
                </a:solidFill>
                <a:latin typeface="Tahoma"/>
                <a:cs typeface="Tahoma"/>
              </a:rPr>
              <a:t>Microcontroller</a:t>
            </a:r>
            <a:r>
              <a:rPr dirty="0" spc="-9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10" b="0">
                <a:solidFill>
                  <a:srgbClr val="272424"/>
                </a:solidFill>
                <a:latin typeface="Tahoma"/>
                <a:cs typeface="Tahoma"/>
              </a:rPr>
              <a:t>Bus</a:t>
            </a:r>
            <a:r>
              <a:rPr dirty="0" spc="-2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272424"/>
                </a:solidFill>
                <a:latin typeface="Tahoma"/>
                <a:cs typeface="Tahoma"/>
              </a:rPr>
              <a:t>Architecture)</a:t>
            </a:r>
            <a:r>
              <a:rPr dirty="0" spc="-7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14" b="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pc="-10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pc="-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272424"/>
                </a:solidFill>
                <a:latin typeface="Tahoma"/>
                <a:cs typeface="Tahoma"/>
              </a:rPr>
              <a:t>open-</a:t>
            </a:r>
            <a:r>
              <a:rPr dirty="0" spc="75" b="0">
                <a:solidFill>
                  <a:srgbClr val="272424"/>
                </a:solidFill>
                <a:latin typeface="Tahoma"/>
                <a:cs typeface="Tahoma"/>
              </a:rPr>
              <a:t>standard</a:t>
            </a:r>
            <a:r>
              <a:rPr dirty="0" spc="-4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10" b="0">
                <a:solidFill>
                  <a:srgbClr val="272424"/>
                </a:solidFill>
                <a:latin typeface="Tahoma"/>
                <a:cs typeface="Tahoma"/>
              </a:rPr>
              <a:t>on-</a:t>
            </a:r>
            <a:r>
              <a:rPr dirty="0" spc="114" b="0">
                <a:solidFill>
                  <a:srgbClr val="272424"/>
                </a:solidFill>
                <a:latin typeface="Tahoma"/>
                <a:cs typeface="Tahoma"/>
              </a:rPr>
              <a:t>chip</a:t>
            </a:r>
            <a:r>
              <a:rPr dirty="0" spc="-12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272424"/>
                </a:solidFill>
                <a:latin typeface="Tahoma"/>
                <a:cs typeface="Tahoma"/>
              </a:rPr>
              <a:t>interconnect</a:t>
            </a:r>
            <a:r>
              <a:rPr dirty="0" spc="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272424"/>
                </a:solidFill>
                <a:latin typeface="Tahoma"/>
                <a:cs typeface="Tahoma"/>
              </a:rPr>
              <a:t>specification</a:t>
            </a:r>
            <a:r>
              <a:rPr dirty="0" spc="-7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272424"/>
                </a:solidFill>
                <a:latin typeface="Tahoma"/>
                <a:cs typeface="Tahoma"/>
              </a:rPr>
              <a:t>introduced</a:t>
            </a:r>
            <a:r>
              <a:rPr dirty="0" spc="-4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05" b="0">
                <a:solidFill>
                  <a:srgbClr val="272424"/>
                </a:solidFill>
                <a:latin typeface="Tahoma"/>
                <a:cs typeface="Tahoma"/>
              </a:rPr>
              <a:t>by</a:t>
            </a:r>
            <a:r>
              <a:rPr dirty="0" spc="-2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30" b="0">
                <a:solidFill>
                  <a:srgbClr val="272424"/>
                </a:solidFill>
                <a:latin typeface="Tahoma"/>
                <a:cs typeface="Tahoma"/>
              </a:rPr>
              <a:t>ARM </a:t>
            </a:r>
            <a:r>
              <a:rPr dirty="0" spc="65" b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pc="-10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-135">
                <a:solidFill>
                  <a:srgbClr val="272424"/>
                </a:solidFill>
              </a:rPr>
              <a:t>1996</a:t>
            </a:r>
            <a:r>
              <a:rPr dirty="0" spc="-135" b="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pc="-7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-110" b="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pc="-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05" b="0">
                <a:solidFill>
                  <a:srgbClr val="272424"/>
                </a:solidFill>
                <a:latin typeface="Tahoma"/>
                <a:cs typeface="Tahoma"/>
              </a:rPr>
              <a:t>was</a:t>
            </a:r>
            <a:r>
              <a:rPr dirty="0" spc="-3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00" b="0">
                <a:solidFill>
                  <a:srgbClr val="272424"/>
                </a:solidFill>
                <a:latin typeface="Tahoma"/>
                <a:cs typeface="Tahoma"/>
              </a:rPr>
              <a:t>designed</a:t>
            </a:r>
            <a:r>
              <a:rPr dirty="0" spc="-5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pc="-3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272424"/>
                </a:solidFill>
                <a:latin typeface="Tahoma"/>
                <a:cs typeface="Tahoma"/>
              </a:rPr>
              <a:t>solve</a:t>
            </a:r>
            <a:r>
              <a:rPr dirty="0" spc="-7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pc="-3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272424"/>
                </a:solidFill>
                <a:latin typeface="Tahoma"/>
                <a:cs typeface="Tahoma"/>
              </a:rPr>
              <a:t>fundamental</a:t>
            </a:r>
            <a:r>
              <a:rPr dirty="0" spc="-5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272424"/>
                </a:solidFill>
                <a:latin typeface="Tahoma"/>
                <a:cs typeface="Tahoma"/>
              </a:rPr>
              <a:t>problem: </a:t>
            </a:r>
            <a:r>
              <a:rPr dirty="0" spc="75" b="0">
                <a:solidFill>
                  <a:srgbClr val="272424"/>
                </a:solidFill>
                <a:latin typeface="Tahoma"/>
                <a:cs typeface="Tahoma"/>
              </a:rPr>
              <a:t>enabling</a:t>
            </a:r>
            <a:r>
              <a:rPr dirty="0" spc="-12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272424"/>
                </a:solidFill>
                <a:latin typeface="Tahoma"/>
                <a:cs typeface="Tahoma"/>
              </a:rPr>
              <a:t>multiple</a:t>
            </a:r>
            <a:r>
              <a:rPr dirty="0" spc="-6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14" b="0">
                <a:solidFill>
                  <a:srgbClr val="272424"/>
                </a:solidFill>
                <a:latin typeface="Tahoma"/>
                <a:cs typeface="Tahoma"/>
              </a:rPr>
              <a:t>processors</a:t>
            </a:r>
            <a:r>
              <a:rPr dirty="0" spc="-2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pc="-5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peripherals</a:t>
            </a:r>
            <a:r>
              <a:rPr dirty="0" spc="-10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pc="-10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communicate </a:t>
            </a:r>
            <a:r>
              <a:rPr dirty="0" spc="75" b="0">
                <a:solidFill>
                  <a:srgbClr val="272424"/>
                </a:solidFill>
                <a:latin typeface="Tahoma"/>
                <a:cs typeface="Tahoma"/>
              </a:rPr>
              <a:t>efficiently</a:t>
            </a:r>
            <a:r>
              <a:rPr dirty="0" spc="-9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pc="-7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pc="-2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272424"/>
                </a:solidFill>
                <a:latin typeface="Tahoma"/>
                <a:cs typeface="Tahoma"/>
              </a:rPr>
              <a:t>complex</a:t>
            </a:r>
            <a:r>
              <a:rPr dirty="0" spc="-6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10" b="0">
                <a:solidFill>
                  <a:srgbClr val="272424"/>
                </a:solidFill>
                <a:latin typeface="Tahoma"/>
                <a:cs typeface="Tahoma"/>
              </a:rPr>
              <a:t>SoC.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</a:p>
          <a:p>
            <a:pPr marL="26034">
              <a:lnSpc>
                <a:spcPct val="100000"/>
              </a:lnSpc>
            </a:pPr>
            <a:r>
              <a:rPr dirty="0"/>
              <a:t>Core</a:t>
            </a:r>
            <a:r>
              <a:rPr dirty="0" spc="-75"/>
              <a:t> </a:t>
            </a:r>
            <a:r>
              <a:rPr dirty="0" spc="-10"/>
              <a:t>Objectives</a:t>
            </a:r>
          </a:p>
          <a:p>
            <a:pPr marL="355600" marR="397510" indent="-343535">
              <a:lnSpc>
                <a:spcPct val="103299"/>
              </a:lnSpc>
              <a:spcBef>
                <a:spcPts val="1140"/>
              </a:spcBef>
              <a:buChar char="•"/>
              <a:tabLst>
                <a:tab pos="355600" algn="l"/>
              </a:tabLst>
            </a:pPr>
            <a:r>
              <a:rPr dirty="0" spc="60" b="0">
                <a:solidFill>
                  <a:srgbClr val="272424"/>
                </a:solidFill>
                <a:latin typeface="Tahoma"/>
                <a:cs typeface="Tahoma"/>
              </a:rPr>
              <a:t>Facilitate</a:t>
            </a:r>
            <a:r>
              <a:rPr dirty="0" spc="-10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-114">
                <a:solidFill>
                  <a:srgbClr val="272424"/>
                </a:solidFill>
              </a:rPr>
              <a:t>multi-</a:t>
            </a:r>
            <a:r>
              <a:rPr dirty="0" spc="-20">
                <a:solidFill>
                  <a:srgbClr val="272424"/>
                </a:solidFill>
              </a:rPr>
              <a:t>processor</a:t>
            </a:r>
            <a:r>
              <a:rPr dirty="0" spc="-10">
                <a:solidFill>
                  <a:srgbClr val="272424"/>
                </a:solidFill>
              </a:rPr>
              <a:t> </a:t>
            </a:r>
            <a:r>
              <a:rPr dirty="0" spc="-40">
                <a:solidFill>
                  <a:srgbClr val="272424"/>
                </a:solidFill>
              </a:rPr>
              <a:t>design</a:t>
            </a:r>
            <a:r>
              <a:rPr dirty="0" spc="-50">
                <a:solidFill>
                  <a:srgbClr val="272424"/>
                </a:solidFill>
              </a:rPr>
              <a:t> </a:t>
            </a:r>
            <a:r>
              <a:rPr dirty="0" spc="50" b="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pc="-10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272424"/>
                </a:solidFill>
                <a:latin typeface="Tahoma"/>
                <a:cs typeface="Tahoma"/>
              </a:rPr>
              <a:t>clean,</a:t>
            </a:r>
            <a:r>
              <a:rPr dirty="0" spc="-2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272424"/>
                </a:solidFill>
                <a:latin typeface="Tahoma"/>
                <a:cs typeface="Tahoma"/>
              </a:rPr>
              <a:t>well-</a:t>
            </a:r>
            <a:r>
              <a:rPr dirty="0" spc="85" b="0">
                <a:solidFill>
                  <a:srgbClr val="272424"/>
                </a:solidFill>
                <a:latin typeface="Tahoma"/>
                <a:cs typeface="Tahoma"/>
              </a:rPr>
              <a:t>defined </a:t>
            </a:r>
            <a:r>
              <a:rPr dirty="0" spc="70" b="0">
                <a:solidFill>
                  <a:srgbClr val="272424"/>
                </a:solidFill>
                <a:latin typeface="Tahoma"/>
                <a:cs typeface="Tahoma"/>
              </a:rPr>
              <a:t>interfaces</a:t>
            </a:r>
          </a:p>
          <a:p>
            <a:pPr marL="355600" marR="701675" indent="-343535">
              <a:lnSpc>
                <a:spcPct val="103200"/>
              </a:lnSpc>
              <a:spcBef>
                <a:spcPts val="75"/>
              </a:spcBef>
              <a:buChar char="•"/>
              <a:tabLst>
                <a:tab pos="355600" algn="l"/>
              </a:tabLst>
            </a:pP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Enable</a:t>
            </a:r>
            <a:r>
              <a:rPr dirty="0" spc="-12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-240">
                <a:solidFill>
                  <a:srgbClr val="272424"/>
                </a:solidFill>
              </a:rPr>
              <a:t>IP</a:t>
            </a:r>
            <a:r>
              <a:rPr dirty="0" spc="-10">
                <a:solidFill>
                  <a:srgbClr val="272424"/>
                </a:solidFill>
              </a:rPr>
              <a:t> core</a:t>
            </a:r>
            <a:r>
              <a:rPr dirty="0" spc="-55">
                <a:solidFill>
                  <a:srgbClr val="272424"/>
                </a:solidFill>
              </a:rPr>
              <a:t> </a:t>
            </a:r>
            <a:r>
              <a:rPr dirty="0" spc="-35">
                <a:solidFill>
                  <a:srgbClr val="272424"/>
                </a:solidFill>
              </a:rPr>
              <a:t>reuse</a:t>
            </a:r>
            <a:r>
              <a:rPr dirty="0" spc="-20">
                <a:solidFill>
                  <a:srgbClr val="272424"/>
                </a:solidFill>
              </a:rPr>
              <a:t> </a:t>
            </a:r>
            <a:r>
              <a:rPr dirty="0" spc="120" b="0">
                <a:solidFill>
                  <a:srgbClr val="272424"/>
                </a:solidFill>
                <a:latin typeface="Tahoma"/>
                <a:cs typeface="Tahoma"/>
              </a:rPr>
              <a:t>across</a:t>
            </a:r>
            <a:r>
              <a:rPr dirty="0" spc="-6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272424"/>
                </a:solidFill>
                <a:latin typeface="Tahoma"/>
                <a:cs typeface="Tahoma"/>
              </a:rPr>
              <a:t>different</a:t>
            </a:r>
            <a:r>
              <a:rPr dirty="0" spc="-10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175" b="0">
                <a:solidFill>
                  <a:srgbClr val="272424"/>
                </a:solidFill>
                <a:latin typeface="Tahoma"/>
                <a:cs typeface="Tahoma"/>
              </a:rPr>
              <a:t>SoC</a:t>
            </a:r>
            <a:r>
              <a:rPr dirty="0" spc="-9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projects</a:t>
            </a:r>
            <a:r>
              <a:rPr dirty="0" spc="-13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dirty="0" spc="70" b="0">
                <a:solidFill>
                  <a:srgbClr val="272424"/>
                </a:solidFill>
                <a:latin typeface="Tahoma"/>
                <a:cs typeface="Tahoma"/>
              </a:rPr>
              <a:t>teams</a:t>
            </a:r>
          </a:p>
          <a:p>
            <a:pPr marL="355600" marR="373380" indent="-343535">
              <a:lnSpc>
                <a:spcPts val="2550"/>
              </a:lnSpc>
              <a:spcBef>
                <a:spcPts val="40"/>
              </a:spcBef>
              <a:buChar char="•"/>
              <a:tabLst>
                <a:tab pos="355600" algn="l"/>
              </a:tabLst>
            </a:pP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Support</a:t>
            </a:r>
            <a:r>
              <a:rPr dirty="0" spc="-8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-85">
                <a:solidFill>
                  <a:srgbClr val="272424"/>
                </a:solidFill>
              </a:rPr>
              <a:t>"right-</a:t>
            </a:r>
            <a:r>
              <a:rPr dirty="0" spc="-65">
                <a:solidFill>
                  <a:srgbClr val="272424"/>
                </a:solidFill>
              </a:rPr>
              <a:t>first-</a:t>
            </a:r>
            <a:r>
              <a:rPr dirty="0" spc="-114">
                <a:solidFill>
                  <a:srgbClr val="272424"/>
                </a:solidFill>
              </a:rPr>
              <a:t>time"</a:t>
            </a:r>
            <a:r>
              <a:rPr dirty="0" spc="-10">
                <a:solidFill>
                  <a:srgbClr val="272424"/>
                </a:solidFill>
              </a:rPr>
              <a:t> </a:t>
            </a:r>
            <a:r>
              <a:rPr dirty="0" spc="-75">
                <a:solidFill>
                  <a:srgbClr val="272424"/>
                </a:solidFill>
              </a:rPr>
              <a:t>development</a:t>
            </a:r>
            <a:r>
              <a:rPr dirty="0" spc="-10">
                <a:solidFill>
                  <a:srgbClr val="272424"/>
                </a:solidFill>
              </a:rPr>
              <a:t> </a:t>
            </a:r>
            <a:r>
              <a:rPr dirty="0" spc="195" b="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pc="-7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272424"/>
                </a:solidFill>
                <a:latin typeface="Tahoma"/>
                <a:cs typeface="Tahoma"/>
              </a:rPr>
              <a:t>reducing</a:t>
            </a:r>
            <a:r>
              <a:rPr dirty="0" spc="-4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costly </a:t>
            </a:r>
            <a:r>
              <a:rPr dirty="0" spc="85" b="0">
                <a:solidFill>
                  <a:srgbClr val="272424"/>
                </a:solidFill>
                <a:latin typeface="Tahoma"/>
                <a:cs typeface="Tahoma"/>
              </a:rPr>
              <a:t>silicon</a:t>
            </a:r>
            <a:r>
              <a:rPr dirty="0" spc="-6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respins</a:t>
            </a:r>
          </a:p>
          <a:p>
            <a:pPr marL="355600" indent="-342900">
              <a:lnSpc>
                <a:spcPts val="2370"/>
              </a:lnSpc>
              <a:buChar char="•"/>
              <a:tabLst>
                <a:tab pos="355600" algn="l"/>
              </a:tabLst>
            </a:pPr>
            <a:r>
              <a:rPr dirty="0" spc="95" b="0">
                <a:solidFill>
                  <a:srgbClr val="272424"/>
                </a:solidFill>
                <a:latin typeface="Tahoma"/>
                <a:cs typeface="Tahoma"/>
              </a:rPr>
              <a:t>Provide</a:t>
            </a:r>
            <a:r>
              <a:rPr dirty="0" spc="-65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pc="-6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-75">
                <a:solidFill>
                  <a:srgbClr val="272424"/>
                </a:solidFill>
              </a:rPr>
              <a:t>royalty-</a:t>
            </a:r>
            <a:r>
              <a:rPr dirty="0" spc="-35">
                <a:solidFill>
                  <a:srgbClr val="272424"/>
                </a:solidFill>
              </a:rPr>
              <a:t>free,</a:t>
            </a:r>
            <a:r>
              <a:rPr dirty="0" spc="-25">
                <a:solidFill>
                  <a:srgbClr val="272424"/>
                </a:solidFill>
              </a:rPr>
              <a:t> </a:t>
            </a:r>
            <a:r>
              <a:rPr dirty="0" spc="-85">
                <a:solidFill>
                  <a:srgbClr val="272424"/>
                </a:solidFill>
              </a:rPr>
              <a:t>well-</a:t>
            </a:r>
            <a:r>
              <a:rPr dirty="0" spc="-70">
                <a:solidFill>
                  <a:srgbClr val="272424"/>
                </a:solidFill>
              </a:rPr>
              <a:t>documented</a:t>
            </a:r>
            <a:r>
              <a:rPr dirty="0" spc="5">
                <a:solidFill>
                  <a:srgbClr val="272424"/>
                </a:solidFill>
              </a:rPr>
              <a:t> </a:t>
            </a:r>
            <a:r>
              <a:rPr dirty="0" spc="75" b="0">
                <a:solidFill>
                  <a:srgbClr val="272424"/>
                </a:solidFill>
                <a:latin typeface="Tahoma"/>
                <a:cs typeface="Tahoma"/>
              </a:rPr>
              <a:t>specification</a:t>
            </a: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pc="114" b="0">
                <a:solidFill>
                  <a:srgbClr val="272424"/>
                </a:solidFill>
                <a:latin typeface="Tahoma"/>
                <a:cs typeface="Tahoma"/>
              </a:rPr>
              <a:t>accessible</a:t>
            </a:r>
            <a:r>
              <a:rPr dirty="0" spc="-8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pc="-11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50" b="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pc="-60" b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272424"/>
                </a:solidFill>
                <a:latin typeface="Tahoma"/>
                <a:cs typeface="Tahoma"/>
              </a:rPr>
              <a:t>licensees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684" y="650874"/>
            <a:ext cx="11180445" cy="1240790"/>
          </a:xfrm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ts val="4880"/>
              </a:lnSpc>
              <a:spcBef>
                <a:spcPts val="5"/>
              </a:spcBef>
            </a:pPr>
            <a:r>
              <a:rPr dirty="0" sz="3900"/>
              <a:t>The</a:t>
            </a:r>
            <a:r>
              <a:rPr dirty="0" sz="3900" spc="-285"/>
              <a:t> </a:t>
            </a:r>
            <a:r>
              <a:rPr dirty="0" sz="3900" spc="-170"/>
              <a:t>Evolution</a:t>
            </a:r>
            <a:r>
              <a:rPr dirty="0" sz="3900" spc="-114"/>
              <a:t> </a:t>
            </a:r>
            <a:r>
              <a:rPr dirty="0" sz="3900"/>
              <a:t>of</a:t>
            </a:r>
            <a:r>
              <a:rPr dirty="0" sz="3900" spc="-254"/>
              <a:t> </a:t>
            </a:r>
            <a:r>
              <a:rPr dirty="0" sz="3900" spc="-35"/>
              <a:t>AMBA:</a:t>
            </a:r>
            <a:r>
              <a:rPr dirty="0" sz="3900" spc="-135"/>
              <a:t> </a:t>
            </a:r>
            <a:r>
              <a:rPr dirty="0" sz="3900" spc="-25"/>
              <a:t>ASB,</a:t>
            </a:r>
            <a:r>
              <a:rPr dirty="0" sz="3900" spc="-210"/>
              <a:t> </a:t>
            </a:r>
            <a:r>
              <a:rPr dirty="0" sz="3900" spc="-20"/>
              <a:t>APB,</a:t>
            </a:r>
            <a:r>
              <a:rPr dirty="0" sz="3900" spc="-150"/>
              <a:t> </a:t>
            </a:r>
            <a:r>
              <a:rPr dirty="0" sz="3900" spc="-130"/>
              <a:t>and</a:t>
            </a:r>
            <a:r>
              <a:rPr dirty="0" sz="3900" spc="-155"/>
              <a:t> </a:t>
            </a:r>
            <a:r>
              <a:rPr dirty="0" sz="3900" spc="-200"/>
              <a:t>the</a:t>
            </a:r>
            <a:r>
              <a:rPr dirty="0" sz="3900" spc="-85"/>
              <a:t> </a:t>
            </a:r>
            <a:r>
              <a:rPr dirty="0" sz="3900" spc="-25"/>
              <a:t>AHB </a:t>
            </a:r>
            <a:r>
              <a:rPr dirty="0" sz="3900" spc="-100"/>
              <a:t>Breakthrough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781684" y="2288095"/>
            <a:ext cx="13007975" cy="654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dirty="0" sz="1800" spc="165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272424"/>
                </a:solidFill>
                <a:latin typeface="Tahoma"/>
                <a:cs typeface="Tahoma"/>
              </a:rPr>
              <a:t>didn't</a:t>
            </a:r>
            <a:r>
              <a:rPr dirty="0" sz="18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arrive</a:t>
            </a:r>
            <a:r>
              <a:rPr dirty="0" sz="18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fully</a:t>
            </a:r>
            <a:r>
              <a:rPr dirty="0" sz="18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272424"/>
                </a:solidFill>
                <a:latin typeface="Tahoma"/>
                <a:cs typeface="Tahoma"/>
              </a:rPr>
              <a:t>formed</a:t>
            </a:r>
            <a:r>
              <a:rPr dirty="0" sz="18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6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8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evolved</a:t>
            </a:r>
            <a:r>
              <a:rPr dirty="0" sz="180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through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deliberate</a:t>
            </a:r>
            <a:r>
              <a:rPr dirty="0" sz="18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iteration,</a:t>
            </a:r>
            <a:r>
              <a:rPr dirty="0" sz="18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5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272424"/>
                </a:solidFill>
                <a:latin typeface="Tahoma"/>
                <a:cs typeface="Tahoma"/>
              </a:rPr>
              <a:t>version</a:t>
            </a:r>
            <a:r>
              <a:rPr dirty="0" sz="18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addressing</a:t>
            </a:r>
            <a:r>
              <a:rPr dirty="0" sz="180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272424"/>
                </a:solidFill>
                <a:latin typeface="Tahoma"/>
                <a:cs typeface="Tahoma"/>
              </a:rPr>
              <a:t>performance </a:t>
            </a: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demands</a:t>
            </a:r>
            <a:r>
              <a:rPr dirty="0" sz="18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80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its</a:t>
            </a:r>
            <a:r>
              <a:rPr dirty="0" sz="18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era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0575" y="4762500"/>
            <a:ext cx="13049250" cy="828040"/>
            <a:chOff x="790575" y="4762500"/>
            <a:chExt cx="13049250" cy="828040"/>
          </a:xfrm>
        </p:grpSpPr>
        <p:sp>
          <p:nvSpPr>
            <p:cNvPr id="5" name="object 5"/>
            <p:cNvSpPr/>
            <p:nvPr/>
          </p:nvSpPr>
          <p:spPr>
            <a:xfrm>
              <a:off x="790575" y="4762499"/>
              <a:ext cx="13049250" cy="619125"/>
            </a:xfrm>
            <a:custGeom>
              <a:avLst/>
              <a:gdLst/>
              <a:ahLst/>
              <a:cxnLst/>
              <a:rect l="l" t="t" r="r" b="b"/>
              <a:pathLst>
                <a:path w="13049250" h="619125">
                  <a:moveTo>
                    <a:pt x="13049250" y="604393"/>
                  </a:moveTo>
                  <a:lnTo>
                    <a:pt x="13044932" y="600075"/>
                  </a:lnTo>
                  <a:lnTo>
                    <a:pt x="3205607" y="600075"/>
                  </a:lnTo>
                  <a:lnTo>
                    <a:pt x="3209925" y="595757"/>
                  </a:lnTo>
                  <a:lnTo>
                    <a:pt x="3209925" y="4318"/>
                  </a:lnTo>
                  <a:lnTo>
                    <a:pt x="3205607" y="0"/>
                  </a:lnTo>
                  <a:lnTo>
                    <a:pt x="3195193" y="0"/>
                  </a:lnTo>
                  <a:lnTo>
                    <a:pt x="3190875" y="4318"/>
                  </a:lnTo>
                  <a:lnTo>
                    <a:pt x="3190875" y="9525"/>
                  </a:lnTo>
                  <a:lnTo>
                    <a:pt x="3190875" y="595757"/>
                  </a:lnTo>
                  <a:lnTo>
                    <a:pt x="3195193" y="600075"/>
                  </a:lnTo>
                  <a:lnTo>
                    <a:pt x="4267" y="600075"/>
                  </a:lnTo>
                  <a:lnTo>
                    <a:pt x="0" y="604393"/>
                  </a:lnTo>
                  <a:lnTo>
                    <a:pt x="0" y="609600"/>
                  </a:lnTo>
                  <a:lnTo>
                    <a:pt x="0" y="614807"/>
                  </a:lnTo>
                  <a:lnTo>
                    <a:pt x="4267" y="619125"/>
                  </a:lnTo>
                  <a:lnTo>
                    <a:pt x="13044932" y="619125"/>
                  </a:lnTo>
                  <a:lnTo>
                    <a:pt x="13049250" y="614807"/>
                  </a:lnTo>
                  <a:lnTo>
                    <a:pt x="13049250" y="604393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776726" y="5148325"/>
              <a:ext cx="447675" cy="438150"/>
            </a:xfrm>
            <a:custGeom>
              <a:avLst/>
              <a:gdLst/>
              <a:ahLst/>
              <a:cxnLst/>
              <a:rect l="l" t="t" r="r" b="b"/>
              <a:pathLst>
                <a:path w="447675" h="438150">
                  <a:moveTo>
                    <a:pt x="365760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356235"/>
                  </a:lnTo>
                  <a:lnTo>
                    <a:pt x="6421" y="388108"/>
                  </a:lnTo>
                  <a:lnTo>
                    <a:pt x="23939" y="414147"/>
                  </a:lnTo>
                  <a:lnTo>
                    <a:pt x="49934" y="431708"/>
                  </a:lnTo>
                  <a:lnTo>
                    <a:pt x="81787" y="438150"/>
                  </a:lnTo>
                  <a:lnTo>
                    <a:pt x="365760" y="438150"/>
                  </a:lnTo>
                  <a:lnTo>
                    <a:pt x="397633" y="431708"/>
                  </a:lnTo>
                  <a:lnTo>
                    <a:pt x="423672" y="414147"/>
                  </a:lnTo>
                  <a:lnTo>
                    <a:pt x="441233" y="388108"/>
                  </a:lnTo>
                  <a:lnTo>
                    <a:pt x="447675" y="356235"/>
                  </a:lnTo>
                  <a:lnTo>
                    <a:pt x="447675" y="81787"/>
                  </a:lnTo>
                  <a:lnTo>
                    <a:pt x="441233" y="49934"/>
                  </a:lnTo>
                  <a:lnTo>
                    <a:pt x="423672" y="23939"/>
                  </a:lnTo>
                  <a:lnTo>
                    <a:pt x="397633" y="6421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776726" y="5148325"/>
              <a:ext cx="447675" cy="438150"/>
            </a:xfrm>
            <a:custGeom>
              <a:avLst/>
              <a:gdLst/>
              <a:ahLst/>
              <a:cxnLst/>
              <a:rect l="l" t="t" r="r" b="b"/>
              <a:pathLst>
                <a:path w="447675" h="438150">
                  <a:moveTo>
                    <a:pt x="0" y="81787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7" y="0"/>
                  </a:lnTo>
                  <a:lnTo>
                    <a:pt x="365760" y="0"/>
                  </a:lnTo>
                  <a:lnTo>
                    <a:pt x="397633" y="6421"/>
                  </a:lnTo>
                  <a:lnTo>
                    <a:pt x="423672" y="23939"/>
                  </a:lnTo>
                  <a:lnTo>
                    <a:pt x="441233" y="49934"/>
                  </a:lnTo>
                  <a:lnTo>
                    <a:pt x="447675" y="81787"/>
                  </a:lnTo>
                  <a:lnTo>
                    <a:pt x="447675" y="356235"/>
                  </a:lnTo>
                  <a:lnTo>
                    <a:pt x="441233" y="388108"/>
                  </a:lnTo>
                  <a:lnTo>
                    <a:pt x="423672" y="414147"/>
                  </a:lnTo>
                  <a:lnTo>
                    <a:pt x="397633" y="431708"/>
                  </a:lnTo>
                  <a:lnTo>
                    <a:pt x="365760" y="438150"/>
                  </a:lnTo>
                  <a:lnTo>
                    <a:pt x="81787" y="438150"/>
                  </a:lnTo>
                  <a:lnTo>
                    <a:pt x="49934" y="431708"/>
                  </a:lnTo>
                  <a:lnTo>
                    <a:pt x="23939" y="414147"/>
                  </a:lnTo>
                  <a:lnTo>
                    <a:pt x="6421" y="388108"/>
                  </a:lnTo>
                  <a:lnTo>
                    <a:pt x="0" y="356235"/>
                  </a:lnTo>
                  <a:lnTo>
                    <a:pt x="0" y="81787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922776" y="5093080"/>
            <a:ext cx="146050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spc="-580" b="1">
                <a:solidFill>
                  <a:srgbClr val="272424"/>
                </a:solidFill>
                <a:latin typeface="Tahoma"/>
                <a:cs typeface="Tahoma"/>
              </a:rPr>
              <a:t>1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5560" y="2984783"/>
            <a:ext cx="5379720" cy="1886585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dirty="0" sz="1950" spc="-140" b="1">
                <a:solidFill>
                  <a:srgbClr val="272424"/>
                </a:solidFill>
                <a:latin typeface="Tahoma"/>
                <a:cs typeface="Tahoma"/>
              </a:rPr>
              <a:t>1996</a:t>
            </a:r>
            <a:r>
              <a:rPr dirty="0" sz="19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175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9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b="1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z="19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500" b="1">
                <a:solidFill>
                  <a:srgbClr val="272424"/>
                </a:solidFill>
                <a:latin typeface="Tahoma"/>
                <a:cs typeface="Tahoma"/>
              </a:rPr>
              <a:t>1</a:t>
            </a:r>
            <a:endParaRPr sz="1950">
              <a:latin typeface="Tahoma"/>
              <a:cs typeface="Tahoma"/>
            </a:endParaRPr>
          </a:p>
          <a:p>
            <a:pPr algn="ctr" marL="12065" marR="5080">
              <a:lnSpc>
                <a:spcPct val="115900"/>
              </a:lnSpc>
              <a:spcBef>
                <a:spcPts val="925"/>
              </a:spcBef>
            </a:pP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I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ntroduced</a:t>
            </a:r>
            <a:r>
              <a:rPr dirty="0" sz="180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ASB</a:t>
            </a:r>
            <a:r>
              <a:rPr dirty="0" sz="1800" spc="-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272424"/>
                </a:solidFill>
                <a:latin typeface="Tahoma"/>
                <a:cs typeface="Tahoma"/>
              </a:rPr>
              <a:t>(Advanced</a:t>
            </a:r>
            <a:r>
              <a:rPr dirty="0" sz="1800" spc="-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Bus)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272424"/>
                </a:solidFill>
                <a:latin typeface="Tahoma"/>
                <a:cs typeface="Tahoma"/>
              </a:rPr>
              <a:t>high-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performance</a:t>
            </a:r>
            <a:r>
              <a:rPr dirty="0" sz="180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connections</a:t>
            </a:r>
            <a:r>
              <a:rPr dirty="0" sz="18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APB</a:t>
            </a:r>
            <a:r>
              <a:rPr dirty="0" sz="180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(Advanced </a:t>
            </a:r>
            <a:r>
              <a:rPr dirty="0" sz="1800" spc="65">
                <a:solidFill>
                  <a:srgbClr val="272424"/>
                </a:solidFill>
                <a:latin typeface="Tahoma"/>
                <a:cs typeface="Tahoma"/>
              </a:rPr>
              <a:t>Peripheral</a:t>
            </a:r>
            <a:r>
              <a:rPr dirty="0" sz="18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Bus)</a:t>
            </a:r>
            <a:r>
              <a:rPr dirty="0" sz="18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80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00">
                <a:solidFill>
                  <a:srgbClr val="272424"/>
                </a:solidFill>
                <a:latin typeface="Tahoma"/>
                <a:cs typeface="Tahoma"/>
              </a:rPr>
              <a:t>low-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bandwidth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peripherals.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1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foundational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30">
                <a:solidFill>
                  <a:srgbClr val="272424"/>
                </a:solidFill>
                <a:latin typeface="Tahoma"/>
                <a:cs typeface="Tahoma"/>
              </a:rPr>
              <a:t>step.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97141" y="5144515"/>
            <a:ext cx="445770" cy="808990"/>
            <a:chOff x="7097141" y="5144515"/>
            <a:chExt cx="445770" cy="808990"/>
          </a:xfrm>
        </p:grpSpPr>
        <p:sp>
          <p:nvSpPr>
            <p:cNvPr id="11" name="object 11"/>
            <p:cNvSpPr/>
            <p:nvPr/>
          </p:nvSpPr>
          <p:spPr>
            <a:xfrm>
              <a:off x="7305675" y="5362574"/>
              <a:ext cx="19050" cy="590550"/>
            </a:xfrm>
            <a:custGeom>
              <a:avLst/>
              <a:gdLst/>
              <a:ahLst/>
              <a:cxnLst/>
              <a:rect l="l" t="t" r="r" b="b"/>
              <a:pathLst>
                <a:path w="19050" h="590550">
                  <a:moveTo>
                    <a:pt x="14731" y="0"/>
                  </a:moveTo>
                  <a:lnTo>
                    <a:pt x="4318" y="0"/>
                  </a:lnTo>
                  <a:lnTo>
                    <a:pt x="0" y="4318"/>
                  </a:lnTo>
                  <a:lnTo>
                    <a:pt x="0" y="9525"/>
                  </a:lnTo>
                  <a:lnTo>
                    <a:pt x="0" y="586232"/>
                  </a:lnTo>
                  <a:lnTo>
                    <a:pt x="4318" y="590550"/>
                  </a:lnTo>
                  <a:lnTo>
                    <a:pt x="14731" y="590550"/>
                  </a:lnTo>
                  <a:lnTo>
                    <a:pt x="19050" y="586232"/>
                  </a:lnTo>
                  <a:lnTo>
                    <a:pt x="19050" y="4318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00951" y="5148325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56234" y="0"/>
                  </a:moveTo>
                  <a:lnTo>
                    <a:pt x="81788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356235"/>
                  </a:lnTo>
                  <a:lnTo>
                    <a:pt x="6421" y="388108"/>
                  </a:lnTo>
                  <a:lnTo>
                    <a:pt x="23939" y="414147"/>
                  </a:lnTo>
                  <a:lnTo>
                    <a:pt x="49934" y="431708"/>
                  </a:lnTo>
                  <a:lnTo>
                    <a:pt x="81788" y="438150"/>
                  </a:lnTo>
                  <a:lnTo>
                    <a:pt x="356234" y="438150"/>
                  </a:lnTo>
                  <a:lnTo>
                    <a:pt x="388108" y="431708"/>
                  </a:lnTo>
                  <a:lnTo>
                    <a:pt x="414147" y="414147"/>
                  </a:lnTo>
                  <a:lnTo>
                    <a:pt x="431708" y="388108"/>
                  </a:lnTo>
                  <a:lnTo>
                    <a:pt x="438150" y="356235"/>
                  </a:lnTo>
                  <a:lnTo>
                    <a:pt x="438150" y="81787"/>
                  </a:lnTo>
                  <a:lnTo>
                    <a:pt x="431708" y="49934"/>
                  </a:lnTo>
                  <a:lnTo>
                    <a:pt x="414147" y="23939"/>
                  </a:lnTo>
                  <a:lnTo>
                    <a:pt x="388108" y="6421"/>
                  </a:lnTo>
                  <a:lnTo>
                    <a:pt x="356234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00951" y="5148325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0" y="81787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8" y="0"/>
                  </a:lnTo>
                  <a:lnTo>
                    <a:pt x="356234" y="0"/>
                  </a:lnTo>
                  <a:lnTo>
                    <a:pt x="388108" y="6421"/>
                  </a:lnTo>
                  <a:lnTo>
                    <a:pt x="414147" y="23939"/>
                  </a:lnTo>
                  <a:lnTo>
                    <a:pt x="431708" y="49934"/>
                  </a:lnTo>
                  <a:lnTo>
                    <a:pt x="438150" y="81787"/>
                  </a:lnTo>
                  <a:lnTo>
                    <a:pt x="438150" y="356235"/>
                  </a:lnTo>
                  <a:lnTo>
                    <a:pt x="431708" y="388108"/>
                  </a:lnTo>
                  <a:lnTo>
                    <a:pt x="414147" y="414147"/>
                  </a:lnTo>
                  <a:lnTo>
                    <a:pt x="388108" y="431708"/>
                  </a:lnTo>
                  <a:lnTo>
                    <a:pt x="356234" y="438150"/>
                  </a:lnTo>
                  <a:lnTo>
                    <a:pt x="81788" y="438150"/>
                  </a:lnTo>
                  <a:lnTo>
                    <a:pt x="49934" y="431708"/>
                  </a:lnTo>
                  <a:lnTo>
                    <a:pt x="23939" y="414147"/>
                  </a:lnTo>
                  <a:lnTo>
                    <a:pt x="6421" y="388108"/>
                  </a:lnTo>
                  <a:lnTo>
                    <a:pt x="0" y="356235"/>
                  </a:lnTo>
                  <a:lnTo>
                    <a:pt x="0" y="81787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218044" y="5093080"/>
            <a:ext cx="206375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spc="-50" b="1">
                <a:solidFill>
                  <a:srgbClr val="272424"/>
                </a:solidFill>
                <a:latin typeface="Tahoma"/>
                <a:cs typeface="Tahoma"/>
              </a:rPr>
              <a:t>2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16729" y="5956610"/>
            <a:ext cx="6000750" cy="188722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1480"/>
              </a:spcBef>
            </a:pPr>
            <a:r>
              <a:rPr dirty="0" sz="1950" spc="-140" b="1">
                <a:solidFill>
                  <a:srgbClr val="272424"/>
                </a:solidFill>
                <a:latin typeface="Tahoma"/>
                <a:cs typeface="Tahoma"/>
              </a:rPr>
              <a:t>1999</a:t>
            </a:r>
            <a:r>
              <a:rPr dirty="0" sz="19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175" b="1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9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b="1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z="195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b="1">
                <a:solidFill>
                  <a:srgbClr val="272424"/>
                </a:solidFill>
                <a:latin typeface="Tahoma"/>
                <a:cs typeface="Tahoma"/>
              </a:rPr>
              <a:t>2</a:t>
            </a:r>
            <a:r>
              <a:rPr dirty="0" sz="19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275" b="1">
                <a:solidFill>
                  <a:srgbClr val="272424"/>
                </a:solidFill>
                <a:latin typeface="Tahoma"/>
                <a:cs typeface="Tahoma"/>
              </a:rPr>
              <a:t>&amp;</a:t>
            </a:r>
            <a:r>
              <a:rPr dirty="0" sz="195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25" b="1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endParaRPr sz="1950">
              <a:latin typeface="Tahoma"/>
              <a:cs typeface="Tahoma"/>
            </a:endParaRPr>
          </a:p>
          <a:p>
            <a:pPr algn="ctr" marL="12700" marR="5080">
              <a:lnSpc>
                <a:spcPct val="115900"/>
              </a:lnSpc>
              <a:spcBef>
                <a:spcPts val="925"/>
              </a:spcBef>
            </a:pPr>
            <a:r>
              <a:rPr dirty="0" sz="1800" spc="9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breakthrough:</a:t>
            </a:r>
            <a:r>
              <a:rPr dirty="0" sz="180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z="1800" spc="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55" b="1">
                <a:solidFill>
                  <a:srgbClr val="272424"/>
                </a:solidFill>
                <a:latin typeface="Tahoma"/>
                <a:cs typeface="Tahoma"/>
              </a:rPr>
              <a:t>High-performance</a:t>
            </a:r>
            <a:r>
              <a:rPr dirty="0" sz="1800" spc="9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35" b="1">
                <a:solidFill>
                  <a:srgbClr val="272424"/>
                </a:solidFill>
                <a:latin typeface="Tahoma"/>
                <a:cs typeface="Tahoma"/>
              </a:rPr>
              <a:t>Bus</a:t>
            </a:r>
            <a:r>
              <a:rPr dirty="0" sz="1800" spc="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45" b="1">
                <a:solidFill>
                  <a:srgbClr val="272424"/>
                </a:solidFill>
                <a:latin typeface="Tahoma"/>
                <a:cs typeface="Tahoma"/>
              </a:rPr>
              <a:t>(AHB) </a:t>
            </a: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replaced</a:t>
            </a:r>
            <a:r>
              <a:rPr dirty="0" sz="180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35">
                <a:solidFill>
                  <a:srgbClr val="272424"/>
                </a:solidFill>
                <a:latin typeface="Tahoma"/>
                <a:cs typeface="Tahoma"/>
              </a:rPr>
              <a:t>ASB</a:t>
            </a:r>
            <a:r>
              <a:rPr dirty="0" sz="18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80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272424"/>
                </a:solidFill>
                <a:latin typeface="Tahoma"/>
                <a:cs typeface="Tahoma"/>
              </a:rPr>
              <a:t>clock-edge</a:t>
            </a:r>
            <a:r>
              <a:rPr dirty="0" sz="1800" spc="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protocol</a:t>
            </a:r>
            <a:r>
              <a:rPr dirty="0" sz="1800" spc="-10">
                <a:solidFill>
                  <a:srgbClr val="272424"/>
                </a:solidFill>
                <a:latin typeface="Tahoma"/>
                <a:cs typeface="Tahoma"/>
              </a:rPr>
              <a:t>,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dramatically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simplifying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timing</a:t>
            </a:r>
            <a:r>
              <a:rPr dirty="0" sz="18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272424"/>
                </a:solidFill>
                <a:latin typeface="Tahoma"/>
                <a:cs typeface="Tahoma"/>
              </a:rPr>
              <a:t>closure</a:t>
            </a:r>
            <a:r>
              <a:rPr dirty="0" sz="18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boosting </a:t>
            </a:r>
            <a:r>
              <a:rPr dirty="0" sz="1800" spc="-10">
                <a:solidFill>
                  <a:srgbClr val="272424"/>
                </a:solidFill>
                <a:latin typeface="Tahoma"/>
                <a:cs typeface="Tahoma"/>
              </a:rPr>
              <a:t>throughput.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411841" y="4762500"/>
            <a:ext cx="455295" cy="828040"/>
            <a:chOff x="10411841" y="4762500"/>
            <a:chExt cx="455295" cy="828040"/>
          </a:xfrm>
        </p:grpSpPr>
        <p:sp>
          <p:nvSpPr>
            <p:cNvPr id="17" name="object 17"/>
            <p:cNvSpPr/>
            <p:nvPr/>
          </p:nvSpPr>
          <p:spPr>
            <a:xfrm>
              <a:off x="10629900" y="4762500"/>
              <a:ext cx="19050" cy="600075"/>
            </a:xfrm>
            <a:custGeom>
              <a:avLst/>
              <a:gdLst/>
              <a:ahLst/>
              <a:cxnLst/>
              <a:rect l="l" t="t" r="r" b="b"/>
              <a:pathLst>
                <a:path w="19050" h="600075">
                  <a:moveTo>
                    <a:pt x="14731" y="0"/>
                  </a:moveTo>
                  <a:lnTo>
                    <a:pt x="4318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595757"/>
                  </a:lnTo>
                  <a:lnTo>
                    <a:pt x="4318" y="600075"/>
                  </a:lnTo>
                  <a:lnTo>
                    <a:pt x="14731" y="600075"/>
                  </a:lnTo>
                  <a:lnTo>
                    <a:pt x="19050" y="595757"/>
                  </a:lnTo>
                  <a:lnTo>
                    <a:pt x="19050" y="4317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415651" y="5148325"/>
              <a:ext cx="447675" cy="438150"/>
            </a:xfrm>
            <a:custGeom>
              <a:avLst/>
              <a:gdLst/>
              <a:ahLst/>
              <a:cxnLst/>
              <a:rect l="l" t="t" r="r" b="b"/>
              <a:pathLst>
                <a:path w="447675" h="438150">
                  <a:moveTo>
                    <a:pt x="365759" y="0"/>
                  </a:moveTo>
                  <a:lnTo>
                    <a:pt x="81788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356235"/>
                  </a:lnTo>
                  <a:lnTo>
                    <a:pt x="6421" y="388108"/>
                  </a:lnTo>
                  <a:lnTo>
                    <a:pt x="23939" y="414147"/>
                  </a:lnTo>
                  <a:lnTo>
                    <a:pt x="49934" y="431708"/>
                  </a:lnTo>
                  <a:lnTo>
                    <a:pt x="81788" y="438150"/>
                  </a:lnTo>
                  <a:lnTo>
                    <a:pt x="365759" y="438150"/>
                  </a:lnTo>
                  <a:lnTo>
                    <a:pt x="397633" y="431708"/>
                  </a:lnTo>
                  <a:lnTo>
                    <a:pt x="423672" y="414147"/>
                  </a:lnTo>
                  <a:lnTo>
                    <a:pt x="441233" y="388108"/>
                  </a:lnTo>
                  <a:lnTo>
                    <a:pt x="447675" y="356235"/>
                  </a:lnTo>
                  <a:lnTo>
                    <a:pt x="447675" y="81787"/>
                  </a:lnTo>
                  <a:lnTo>
                    <a:pt x="441233" y="49934"/>
                  </a:lnTo>
                  <a:lnTo>
                    <a:pt x="423672" y="23939"/>
                  </a:lnTo>
                  <a:lnTo>
                    <a:pt x="397633" y="6421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415651" y="5148325"/>
              <a:ext cx="447675" cy="438150"/>
            </a:xfrm>
            <a:custGeom>
              <a:avLst/>
              <a:gdLst/>
              <a:ahLst/>
              <a:cxnLst/>
              <a:rect l="l" t="t" r="r" b="b"/>
              <a:pathLst>
                <a:path w="447675" h="438150">
                  <a:moveTo>
                    <a:pt x="0" y="81787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8" y="0"/>
                  </a:lnTo>
                  <a:lnTo>
                    <a:pt x="365759" y="0"/>
                  </a:lnTo>
                  <a:lnTo>
                    <a:pt x="397633" y="6421"/>
                  </a:lnTo>
                  <a:lnTo>
                    <a:pt x="423672" y="23939"/>
                  </a:lnTo>
                  <a:lnTo>
                    <a:pt x="441233" y="49934"/>
                  </a:lnTo>
                  <a:lnTo>
                    <a:pt x="447675" y="81787"/>
                  </a:lnTo>
                  <a:lnTo>
                    <a:pt x="447675" y="356235"/>
                  </a:lnTo>
                  <a:lnTo>
                    <a:pt x="441233" y="388108"/>
                  </a:lnTo>
                  <a:lnTo>
                    <a:pt x="423672" y="414147"/>
                  </a:lnTo>
                  <a:lnTo>
                    <a:pt x="397633" y="431708"/>
                  </a:lnTo>
                  <a:lnTo>
                    <a:pt x="365759" y="438150"/>
                  </a:lnTo>
                  <a:lnTo>
                    <a:pt x="81788" y="438150"/>
                  </a:lnTo>
                  <a:lnTo>
                    <a:pt x="49934" y="431708"/>
                  </a:lnTo>
                  <a:lnTo>
                    <a:pt x="23939" y="414147"/>
                  </a:lnTo>
                  <a:lnTo>
                    <a:pt x="6421" y="388108"/>
                  </a:lnTo>
                  <a:lnTo>
                    <a:pt x="0" y="356235"/>
                  </a:lnTo>
                  <a:lnTo>
                    <a:pt x="0" y="81787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541381" y="5093080"/>
            <a:ext cx="208279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spc="-50" b="1">
                <a:solidFill>
                  <a:srgbClr val="272424"/>
                </a:solidFill>
                <a:latin typeface="Tahoma"/>
                <a:cs typeface="Tahoma"/>
              </a:rPr>
              <a:t>3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67879" y="2984783"/>
            <a:ext cx="5944235" cy="1886585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algn="ctr" marL="8890">
              <a:lnSpc>
                <a:spcPct val="100000"/>
              </a:lnSpc>
              <a:spcBef>
                <a:spcPts val="1470"/>
              </a:spcBef>
            </a:pPr>
            <a:r>
              <a:rPr dirty="0" sz="1950" b="1">
                <a:solidFill>
                  <a:srgbClr val="272424"/>
                </a:solidFill>
                <a:latin typeface="Tahoma"/>
                <a:cs typeface="Tahoma"/>
              </a:rPr>
              <a:t>Key</a:t>
            </a:r>
            <a:r>
              <a:rPr dirty="0" sz="19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30" b="1">
                <a:solidFill>
                  <a:srgbClr val="272424"/>
                </a:solidFill>
                <a:latin typeface="Tahoma"/>
                <a:cs typeface="Tahoma"/>
              </a:rPr>
              <a:t>Innovation</a:t>
            </a:r>
            <a:endParaRPr sz="1950">
              <a:latin typeface="Tahoma"/>
              <a:cs typeface="Tahoma"/>
            </a:endParaRPr>
          </a:p>
          <a:p>
            <a:pPr algn="ctr" marL="12700" marR="5080">
              <a:lnSpc>
                <a:spcPct val="115900"/>
              </a:lnSpc>
              <a:spcBef>
                <a:spcPts val="925"/>
              </a:spcBef>
            </a:pPr>
            <a:r>
              <a:rPr dirty="0" sz="1800" spc="130">
                <a:solidFill>
                  <a:srgbClr val="272424"/>
                </a:solidFill>
                <a:latin typeface="Tahoma"/>
                <a:cs typeface="Tahoma"/>
              </a:rPr>
              <a:t>AHB's</a:t>
            </a:r>
            <a:r>
              <a:rPr dirty="0" sz="18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single-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edge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design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272424"/>
                </a:solidFill>
                <a:latin typeface="Tahoma"/>
                <a:cs typeface="Tahoma"/>
              </a:rPr>
              <a:t>eliminated</a:t>
            </a:r>
            <a:r>
              <a:rPr dirty="0" sz="18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complexity</a:t>
            </a:r>
            <a:r>
              <a:rPr dirty="0" sz="180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of multi-</a:t>
            </a:r>
            <a:r>
              <a:rPr dirty="0" sz="1800" spc="120">
                <a:solidFill>
                  <a:srgbClr val="272424"/>
                </a:solidFill>
                <a:latin typeface="Tahoma"/>
                <a:cs typeface="Tahoma"/>
              </a:rPr>
              <a:t>clock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protocols,</a:t>
            </a:r>
            <a:r>
              <a:rPr dirty="0" sz="18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272424"/>
                </a:solidFill>
                <a:latin typeface="Tahoma"/>
                <a:cs typeface="Tahoma"/>
              </a:rPr>
              <a:t>reducing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272424"/>
                </a:solidFill>
                <a:latin typeface="Tahoma"/>
                <a:cs typeface="Tahoma"/>
              </a:rPr>
              <a:t>power</a:t>
            </a:r>
            <a:r>
              <a:rPr dirty="0" sz="1800" spc="-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272424"/>
                </a:solidFill>
                <a:latin typeface="Tahoma"/>
                <a:cs typeface="Tahoma"/>
              </a:rPr>
              <a:t>consumption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enabling</a:t>
            </a:r>
            <a:r>
              <a:rPr dirty="0" sz="180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higher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operating</a:t>
            </a:r>
            <a:r>
              <a:rPr dirty="0" sz="180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frequencies</a:t>
            </a:r>
            <a:r>
              <a:rPr dirty="0" sz="18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8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00">
                <a:solidFill>
                  <a:srgbClr val="272424"/>
                </a:solidFill>
                <a:latin typeface="Tahoma"/>
                <a:cs typeface="Tahoma"/>
              </a:rPr>
              <a:t>deep-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submicron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272424"/>
                </a:solidFill>
                <a:latin typeface="Tahoma"/>
                <a:cs typeface="Tahoma"/>
              </a:rPr>
              <a:t>processes.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34525" y="5439790"/>
            <a:ext cx="4974590" cy="2668270"/>
            <a:chOff x="9534525" y="5439790"/>
            <a:chExt cx="4974590" cy="2668270"/>
          </a:xfrm>
        </p:grpSpPr>
        <p:sp>
          <p:nvSpPr>
            <p:cNvPr id="3" name="object 3"/>
            <p:cNvSpPr/>
            <p:nvPr/>
          </p:nvSpPr>
          <p:spPr>
            <a:xfrm>
              <a:off x="9625076" y="5443600"/>
              <a:ext cx="4352925" cy="2486025"/>
            </a:xfrm>
            <a:custGeom>
              <a:avLst/>
              <a:gdLst/>
              <a:ahLst/>
              <a:cxnLst/>
              <a:rect l="l" t="t" r="r" b="b"/>
              <a:pathLst>
                <a:path w="4352925" h="2486025">
                  <a:moveTo>
                    <a:pt x="4250055" y="0"/>
                  </a:moveTo>
                  <a:lnTo>
                    <a:pt x="102743" y="0"/>
                  </a:lnTo>
                  <a:lnTo>
                    <a:pt x="62739" y="8070"/>
                  </a:lnTo>
                  <a:lnTo>
                    <a:pt x="30083" y="30083"/>
                  </a:lnTo>
                  <a:lnTo>
                    <a:pt x="8070" y="62739"/>
                  </a:lnTo>
                  <a:lnTo>
                    <a:pt x="0" y="102743"/>
                  </a:lnTo>
                  <a:lnTo>
                    <a:pt x="0" y="2383193"/>
                  </a:lnTo>
                  <a:lnTo>
                    <a:pt x="8070" y="2423194"/>
                  </a:lnTo>
                  <a:lnTo>
                    <a:pt x="30083" y="2455860"/>
                  </a:lnTo>
                  <a:lnTo>
                    <a:pt x="62739" y="2477885"/>
                  </a:lnTo>
                  <a:lnTo>
                    <a:pt x="102743" y="2485961"/>
                  </a:lnTo>
                  <a:lnTo>
                    <a:pt x="4250055" y="2485961"/>
                  </a:lnTo>
                  <a:lnTo>
                    <a:pt x="4290077" y="2477885"/>
                  </a:lnTo>
                  <a:lnTo>
                    <a:pt x="4322778" y="2455860"/>
                  </a:lnTo>
                  <a:lnTo>
                    <a:pt x="4344834" y="2423194"/>
                  </a:lnTo>
                  <a:lnTo>
                    <a:pt x="4352925" y="2383193"/>
                  </a:lnTo>
                  <a:lnTo>
                    <a:pt x="4352925" y="102743"/>
                  </a:lnTo>
                  <a:lnTo>
                    <a:pt x="4344834" y="62739"/>
                  </a:lnTo>
                  <a:lnTo>
                    <a:pt x="4322778" y="30083"/>
                  </a:lnTo>
                  <a:lnTo>
                    <a:pt x="4290077" y="8070"/>
                  </a:lnTo>
                  <a:lnTo>
                    <a:pt x="4250055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625076" y="5443600"/>
              <a:ext cx="4352925" cy="2486025"/>
            </a:xfrm>
            <a:custGeom>
              <a:avLst/>
              <a:gdLst/>
              <a:ahLst/>
              <a:cxnLst/>
              <a:rect l="l" t="t" r="r" b="b"/>
              <a:pathLst>
                <a:path w="4352925" h="2486025">
                  <a:moveTo>
                    <a:pt x="0" y="102743"/>
                  </a:moveTo>
                  <a:lnTo>
                    <a:pt x="8070" y="62739"/>
                  </a:lnTo>
                  <a:lnTo>
                    <a:pt x="30083" y="30083"/>
                  </a:lnTo>
                  <a:lnTo>
                    <a:pt x="62739" y="8070"/>
                  </a:lnTo>
                  <a:lnTo>
                    <a:pt x="102743" y="0"/>
                  </a:lnTo>
                  <a:lnTo>
                    <a:pt x="4250055" y="0"/>
                  </a:lnTo>
                  <a:lnTo>
                    <a:pt x="4290077" y="8070"/>
                  </a:lnTo>
                  <a:lnTo>
                    <a:pt x="4322778" y="30083"/>
                  </a:lnTo>
                  <a:lnTo>
                    <a:pt x="4344834" y="62739"/>
                  </a:lnTo>
                  <a:lnTo>
                    <a:pt x="4352925" y="102743"/>
                  </a:lnTo>
                  <a:lnTo>
                    <a:pt x="4352925" y="2383193"/>
                  </a:lnTo>
                  <a:lnTo>
                    <a:pt x="4344834" y="2423194"/>
                  </a:lnTo>
                  <a:lnTo>
                    <a:pt x="4322778" y="2455860"/>
                  </a:lnTo>
                  <a:lnTo>
                    <a:pt x="4290077" y="2477885"/>
                  </a:lnTo>
                  <a:lnTo>
                    <a:pt x="4250055" y="2485961"/>
                  </a:lnTo>
                  <a:lnTo>
                    <a:pt x="102743" y="2485961"/>
                  </a:lnTo>
                  <a:lnTo>
                    <a:pt x="62739" y="2477885"/>
                  </a:lnTo>
                  <a:lnTo>
                    <a:pt x="30083" y="2455860"/>
                  </a:lnTo>
                  <a:lnTo>
                    <a:pt x="8070" y="2423194"/>
                  </a:lnTo>
                  <a:lnTo>
                    <a:pt x="0" y="2383193"/>
                  </a:lnTo>
                  <a:lnTo>
                    <a:pt x="0" y="102743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4525" y="5486336"/>
              <a:ext cx="538162" cy="433387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/>
              <a:t>AMBA</a:t>
            </a:r>
            <a:r>
              <a:rPr dirty="0" sz="3350" spc="-135"/>
              <a:t> </a:t>
            </a:r>
            <a:r>
              <a:rPr dirty="0" sz="3350" spc="-80"/>
              <a:t>AHB:</a:t>
            </a:r>
            <a:r>
              <a:rPr dirty="0" sz="3350" spc="-110"/>
              <a:t> </a:t>
            </a:r>
            <a:r>
              <a:rPr dirty="0" sz="3350" spc="-105"/>
              <a:t>High-</a:t>
            </a:r>
            <a:r>
              <a:rPr dirty="0" sz="3350" spc="-90"/>
              <a:t>Performance,</a:t>
            </a:r>
            <a:r>
              <a:rPr dirty="0" sz="3350" spc="-155"/>
              <a:t> </a:t>
            </a:r>
            <a:r>
              <a:rPr dirty="0" sz="3350" spc="-80"/>
              <a:t>Master-</a:t>
            </a:r>
            <a:r>
              <a:rPr dirty="0" sz="3350" spc="-40"/>
              <a:t>Slave</a:t>
            </a:r>
            <a:r>
              <a:rPr dirty="0" sz="3350" spc="-125"/>
              <a:t> </a:t>
            </a:r>
            <a:r>
              <a:rPr dirty="0" sz="3350" spc="-75"/>
              <a:t>Architecture</a:t>
            </a:r>
            <a:endParaRPr sz="3350"/>
          </a:p>
        </p:txBody>
      </p:sp>
      <p:sp>
        <p:nvSpPr>
          <p:cNvPr id="7" name="object 7"/>
          <p:cNvSpPr txBox="1"/>
          <p:nvPr/>
        </p:nvSpPr>
        <p:spPr>
          <a:xfrm>
            <a:off x="669925" y="1202626"/>
            <a:ext cx="12996545" cy="55816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275"/>
              </a:spcBef>
            </a:pPr>
            <a:r>
              <a:rPr dirty="0" sz="1800" spc="114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05">
                <a:solidFill>
                  <a:srgbClr val="272424"/>
                </a:solidFill>
                <a:latin typeface="Tahoma"/>
                <a:cs typeface="Tahoma"/>
              </a:rPr>
              <a:t>was</a:t>
            </a:r>
            <a:r>
              <a:rPr dirty="0" sz="180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designed</a:t>
            </a:r>
            <a:r>
              <a:rPr dirty="0" sz="180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8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272424"/>
                </a:solidFill>
                <a:latin typeface="Tahoma"/>
                <a:cs typeface="Tahoma"/>
              </a:rPr>
              <a:t>system-</a:t>
            </a:r>
            <a:r>
              <a:rPr dirty="0" sz="1800" spc="-55" b="1">
                <a:solidFill>
                  <a:srgbClr val="272424"/>
                </a:solidFill>
                <a:latin typeface="Tahoma"/>
                <a:cs typeface="Tahoma"/>
              </a:rPr>
              <a:t>level,</a:t>
            </a:r>
            <a:r>
              <a:rPr dirty="0" sz="1800" spc="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65" b="1">
                <a:solidFill>
                  <a:srgbClr val="272424"/>
                </a:solidFill>
                <a:latin typeface="Tahoma"/>
                <a:cs typeface="Tahoma"/>
              </a:rPr>
              <a:t>high-</a:t>
            </a:r>
            <a:r>
              <a:rPr dirty="0" sz="1800" spc="-90" b="1">
                <a:solidFill>
                  <a:srgbClr val="272424"/>
                </a:solidFill>
                <a:latin typeface="Tahoma"/>
                <a:cs typeface="Tahoma"/>
              </a:rPr>
              <a:t>bandwidth</a:t>
            </a:r>
            <a:r>
              <a:rPr dirty="0" sz="180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45" b="1">
                <a:solidFill>
                  <a:srgbClr val="272424"/>
                </a:solidFill>
                <a:latin typeface="Tahoma"/>
                <a:cs typeface="Tahoma"/>
              </a:rPr>
              <a:t>connections</a:t>
            </a:r>
            <a:r>
              <a:rPr dirty="0" sz="180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6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8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critical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pathways</a:t>
            </a:r>
            <a:r>
              <a:rPr dirty="0" sz="180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between</a:t>
            </a:r>
            <a:r>
              <a:rPr dirty="0" sz="180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272424"/>
                </a:solidFill>
                <a:latin typeface="Tahoma"/>
                <a:cs typeface="Tahoma"/>
              </a:rPr>
              <a:t>processors,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memory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other</a:t>
            </a:r>
            <a:r>
              <a:rPr dirty="0" sz="1800" spc="-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components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9581" y="1981200"/>
            <a:ext cx="6071330" cy="309753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24827" y="5439790"/>
            <a:ext cx="4494530" cy="2493645"/>
            <a:chOff x="524827" y="5439790"/>
            <a:chExt cx="4494530" cy="2493645"/>
          </a:xfrm>
        </p:grpSpPr>
        <p:sp>
          <p:nvSpPr>
            <p:cNvPr id="10" name="object 10"/>
            <p:cNvSpPr/>
            <p:nvPr/>
          </p:nvSpPr>
          <p:spPr>
            <a:xfrm>
              <a:off x="528637" y="5443600"/>
              <a:ext cx="4486910" cy="2486025"/>
            </a:xfrm>
            <a:custGeom>
              <a:avLst/>
              <a:gdLst/>
              <a:ahLst/>
              <a:cxnLst/>
              <a:rect l="l" t="t" r="r" b="b"/>
              <a:pathLst>
                <a:path w="4486910" h="2486025">
                  <a:moveTo>
                    <a:pt x="4383468" y="0"/>
                  </a:moveTo>
                  <a:lnTo>
                    <a:pt x="102768" y="0"/>
                  </a:lnTo>
                  <a:lnTo>
                    <a:pt x="62766" y="8070"/>
                  </a:lnTo>
                  <a:lnTo>
                    <a:pt x="30100" y="30083"/>
                  </a:lnTo>
                  <a:lnTo>
                    <a:pt x="8076" y="62739"/>
                  </a:lnTo>
                  <a:lnTo>
                    <a:pt x="0" y="102743"/>
                  </a:lnTo>
                  <a:lnTo>
                    <a:pt x="0" y="2383193"/>
                  </a:lnTo>
                  <a:lnTo>
                    <a:pt x="8076" y="2423194"/>
                  </a:lnTo>
                  <a:lnTo>
                    <a:pt x="30100" y="2455860"/>
                  </a:lnTo>
                  <a:lnTo>
                    <a:pt x="62766" y="2477885"/>
                  </a:lnTo>
                  <a:lnTo>
                    <a:pt x="102768" y="2485961"/>
                  </a:lnTo>
                  <a:lnTo>
                    <a:pt x="4383468" y="2485961"/>
                  </a:lnTo>
                  <a:lnTo>
                    <a:pt x="4423491" y="2477885"/>
                  </a:lnTo>
                  <a:lnTo>
                    <a:pt x="4456191" y="2455860"/>
                  </a:lnTo>
                  <a:lnTo>
                    <a:pt x="4478248" y="2423194"/>
                  </a:lnTo>
                  <a:lnTo>
                    <a:pt x="4486338" y="2383193"/>
                  </a:lnTo>
                  <a:lnTo>
                    <a:pt x="4486338" y="102743"/>
                  </a:lnTo>
                  <a:lnTo>
                    <a:pt x="4478248" y="62739"/>
                  </a:lnTo>
                  <a:lnTo>
                    <a:pt x="4456191" y="30083"/>
                  </a:lnTo>
                  <a:lnTo>
                    <a:pt x="4423491" y="8070"/>
                  </a:lnTo>
                  <a:lnTo>
                    <a:pt x="4383468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8637" y="5443600"/>
              <a:ext cx="4486910" cy="2486025"/>
            </a:xfrm>
            <a:custGeom>
              <a:avLst/>
              <a:gdLst/>
              <a:ahLst/>
              <a:cxnLst/>
              <a:rect l="l" t="t" r="r" b="b"/>
              <a:pathLst>
                <a:path w="4486910" h="2486025">
                  <a:moveTo>
                    <a:pt x="0" y="102743"/>
                  </a:moveTo>
                  <a:lnTo>
                    <a:pt x="8076" y="62739"/>
                  </a:lnTo>
                  <a:lnTo>
                    <a:pt x="30100" y="30083"/>
                  </a:lnTo>
                  <a:lnTo>
                    <a:pt x="62766" y="8070"/>
                  </a:lnTo>
                  <a:lnTo>
                    <a:pt x="102768" y="0"/>
                  </a:lnTo>
                  <a:lnTo>
                    <a:pt x="4383468" y="0"/>
                  </a:lnTo>
                  <a:lnTo>
                    <a:pt x="4423491" y="8070"/>
                  </a:lnTo>
                  <a:lnTo>
                    <a:pt x="4456191" y="30083"/>
                  </a:lnTo>
                  <a:lnTo>
                    <a:pt x="4478248" y="62739"/>
                  </a:lnTo>
                  <a:lnTo>
                    <a:pt x="4486338" y="102743"/>
                  </a:lnTo>
                  <a:lnTo>
                    <a:pt x="4486338" y="2383193"/>
                  </a:lnTo>
                  <a:lnTo>
                    <a:pt x="4478248" y="2423194"/>
                  </a:lnTo>
                  <a:lnTo>
                    <a:pt x="4456191" y="2455860"/>
                  </a:lnTo>
                  <a:lnTo>
                    <a:pt x="4423491" y="2477885"/>
                  </a:lnTo>
                  <a:lnTo>
                    <a:pt x="4383468" y="2485961"/>
                  </a:lnTo>
                  <a:lnTo>
                    <a:pt x="102768" y="2485961"/>
                  </a:lnTo>
                  <a:lnTo>
                    <a:pt x="62766" y="2477885"/>
                  </a:lnTo>
                  <a:lnTo>
                    <a:pt x="30100" y="2455860"/>
                  </a:lnTo>
                  <a:lnTo>
                    <a:pt x="8076" y="2423194"/>
                  </a:lnTo>
                  <a:lnTo>
                    <a:pt x="0" y="2383193"/>
                  </a:lnTo>
                  <a:lnTo>
                    <a:pt x="0" y="102743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" y="5486336"/>
              <a:ext cx="528637" cy="43338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89672" y="5536628"/>
            <a:ext cx="82232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Masters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8360" y="6016216"/>
            <a:ext cx="3967479" cy="13042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14"/>
              </a:spcBef>
            </a:pPr>
            <a:r>
              <a:rPr dirty="0" sz="1550" spc="110">
                <a:solidFill>
                  <a:srgbClr val="272424"/>
                </a:solidFill>
                <a:latin typeface="Tahoma"/>
                <a:cs typeface="Tahoma"/>
              </a:rPr>
              <a:t>Components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5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75" b="1">
                <a:solidFill>
                  <a:srgbClr val="272424"/>
                </a:solidFill>
                <a:latin typeface="Tahoma"/>
                <a:cs typeface="Tahoma"/>
              </a:rPr>
              <a:t>initiate</a:t>
            </a:r>
            <a:r>
              <a:rPr dirty="0" sz="1550" spc="7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read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write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transactions.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Examples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include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272424"/>
                </a:solidFill>
                <a:latin typeface="Tahoma"/>
                <a:cs typeface="Tahoma"/>
              </a:rPr>
              <a:t>CPUs, </a:t>
            </a:r>
            <a:r>
              <a:rPr dirty="0" sz="1550" spc="170">
                <a:solidFill>
                  <a:srgbClr val="272424"/>
                </a:solidFill>
                <a:latin typeface="Tahoma"/>
                <a:cs typeface="Tahoma"/>
              </a:rPr>
              <a:t>DMA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controllers,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30">
                <a:solidFill>
                  <a:srgbClr val="272424"/>
                </a:solidFill>
                <a:latin typeface="Tahoma"/>
                <a:cs typeface="Tahoma"/>
              </a:rPr>
              <a:t>USB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host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controllers.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Multiple</a:t>
            </a:r>
            <a:r>
              <a:rPr dirty="0" sz="15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masters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exist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on a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45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bus.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54040" y="5439790"/>
            <a:ext cx="4331970" cy="2493645"/>
            <a:chOff x="5154040" y="5439790"/>
            <a:chExt cx="4331970" cy="2493645"/>
          </a:xfrm>
        </p:grpSpPr>
        <p:sp>
          <p:nvSpPr>
            <p:cNvPr id="16" name="object 16"/>
            <p:cNvSpPr/>
            <p:nvPr/>
          </p:nvSpPr>
          <p:spPr>
            <a:xfrm>
              <a:off x="5157850" y="5443600"/>
              <a:ext cx="4324350" cy="2486025"/>
            </a:xfrm>
            <a:custGeom>
              <a:avLst/>
              <a:gdLst/>
              <a:ahLst/>
              <a:cxnLst/>
              <a:rect l="l" t="t" r="r" b="b"/>
              <a:pathLst>
                <a:path w="4324350" h="2486025">
                  <a:moveTo>
                    <a:pt x="4221480" y="0"/>
                  </a:moveTo>
                  <a:lnTo>
                    <a:pt x="102743" y="0"/>
                  </a:lnTo>
                  <a:lnTo>
                    <a:pt x="62739" y="8070"/>
                  </a:lnTo>
                  <a:lnTo>
                    <a:pt x="30083" y="30083"/>
                  </a:lnTo>
                  <a:lnTo>
                    <a:pt x="8070" y="62739"/>
                  </a:lnTo>
                  <a:lnTo>
                    <a:pt x="0" y="102743"/>
                  </a:lnTo>
                  <a:lnTo>
                    <a:pt x="0" y="2383193"/>
                  </a:lnTo>
                  <a:lnTo>
                    <a:pt x="8070" y="2423194"/>
                  </a:lnTo>
                  <a:lnTo>
                    <a:pt x="30083" y="2455860"/>
                  </a:lnTo>
                  <a:lnTo>
                    <a:pt x="62739" y="2477885"/>
                  </a:lnTo>
                  <a:lnTo>
                    <a:pt x="102743" y="2485961"/>
                  </a:lnTo>
                  <a:lnTo>
                    <a:pt x="4221480" y="2485961"/>
                  </a:lnTo>
                  <a:lnTo>
                    <a:pt x="4261502" y="2477885"/>
                  </a:lnTo>
                  <a:lnTo>
                    <a:pt x="4294203" y="2455860"/>
                  </a:lnTo>
                  <a:lnTo>
                    <a:pt x="4316259" y="2423194"/>
                  </a:lnTo>
                  <a:lnTo>
                    <a:pt x="4324350" y="2383193"/>
                  </a:lnTo>
                  <a:lnTo>
                    <a:pt x="4324350" y="102743"/>
                  </a:lnTo>
                  <a:lnTo>
                    <a:pt x="4316259" y="62739"/>
                  </a:lnTo>
                  <a:lnTo>
                    <a:pt x="4294203" y="30083"/>
                  </a:lnTo>
                  <a:lnTo>
                    <a:pt x="4261502" y="8070"/>
                  </a:lnTo>
                  <a:lnTo>
                    <a:pt x="4221480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57850" y="5443600"/>
              <a:ext cx="4324350" cy="2486025"/>
            </a:xfrm>
            <a:custGeom>
              <a:avLst/>
              <a:gdLst/>
              <a:ahLst/>
              <a:cxnLst/>
              <a:rect l="l" t="t" r="r" b="b"/>
              <a:pathLst>
                <a:path w="4324350" h="2486025">
                  <a:moveTo>
                    <a:pt x="0" y="102743"/>
                  </a:moveTo>
                  <a:lnTo>
                    <a:pt x="8070" y="62739"/>
                  </a:lnTo>
                  <a:lnTo>
                    <a:pt x="30083" y="30083"/>
                  </a:lnTo>
                  <a:lnTo>
                    <a:pt x="62739" y="8070"/>
                  </a:lnTo>
                  <a:lnTo>
                    <a:pt x="102743" y="0"/>
                  </a:lnTo>
                  <a:lnTo>
                    <a:pt x="4221480" y="0"/>
                  </a:lnTo>
                  <a:lnTo>
                    <a:pt x="4261502" y="8070"/>
                  </a:lnTo>
                  <a:lnTo>
                    <a:pt x="4294203" y="30083"/>
                  </a:lnTo>
                  <a:lnTo>
                    <a:pt x="4316259" y="62739"/>
                  </a:lnTo>
                  <a:lnTo>
                    <a:pt x="4324350" y="102743"/>
                  </a:lnTo>
                  <a:lnTo>
                    <a:pt x="4324350" y="2383193"/>
                  </a:lnTo>
                  <a:lnTo>
                    <a:pt x="4316259" y="2423194"/>
                  </a:lnTo>
                  <a:lnTo>
                    <a:pt x="4294203" y="2455860"/>
                  </a:lnTo>
                  <a:lnTo>
                    <a:pt x="4261502" y="2477885"/>
                  </a:lnTo>
                  <a:lnTo>
                    <a:pt x="4221480" y="2485961"/>
                  </a:lnTo>
                  <a:lnTo>
                    <a:pt x="102743" y="2485961"/>
                  </a:lnTo>
                  <a:lnTo>
                    <a:pt x="62739" y="2477885"/>
                  </a:lnTo>
                  <a:lnTo>
                    <a:pt x="30083" y="2455860"/>
                  </a:lnTo>
                  <a:lnTo>
                    <a:pt x="8070" y="2423194"/>
                  </a:lnTo>
                  <a:lnTo>
                    <a:pt x="0" y="2383193"/>
                  </a:lnTo>
                  <a:lnTo>
                    <a:pt x="0" y="102743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0649" y="5486336"/>
              <a:ext cx="538162" cy="43338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663184" y="5536628"/>
            <a:ext cx="68072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 b="1">
                <a:solidFill>
                  <a:srgbClr val="272424"/>
                </a:solidFill>
                <a:latin typeface="Tahoma"/>
                <a:cs typeface="Tahoma"/>
              </a:rPr>
              <a:t>Slaves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21934" y="6016216"/>
            <a:ext cx="3930015" cy="13042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14"/>
              </a:spcBef>
            </a:pPr>
            <a:r>
              <a:rPr dirty="0" sz="1550" spc="110">
                <a:solidFill>
                  <a:srgbClr val="272424"/>
                </a:solidFill>
                <a:latin typeface="Tahoma"/>
                <a:cs typeface="Tahoma"/>
              </a:rPr>
              <a:t>Components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5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272424"/>
                </a:solidFill>
                <a:latin typeface="Tahoma"/>
                <a:cs typeface="Tahoma"/>
              </a:rPr>
              <a:t>respond</a:t>
            </a:r>
            <a:r>
              <a:rPr dirty="0" sz="1550" spc="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master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requests.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Examples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include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14">
                <a:solidFill>
                  <a:srgbClr val="272424"/>
                </a:solidFill>
                <a:latin typeface="Tahoma"/>
                <a:cs typeface="Tahoma"/>
              </a:rPr>
              <a:t>SRAM,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Flash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memory,</a:t>
            </a:r>
            <a:r>
              <a:rPr dirty="0" sz="15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peripheral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controllers,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register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banks.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slave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25">
                <a:solidFill>
                  <a:srgbClr val="272424"/>
                </a:solidFill>
                <a:latin typeface="Tahoma"/>
                <a:cs typeface="Tahoma"/>
              </a:rPr>
              <a:t>occupies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defined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5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map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region.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02519" y="5536628"/>
            <a:ext cx="991869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65" b="1">
                <a:solidFill>
                  <a:srgbClr val="272424"/>
                </a:solidFill>
                <a:latin typeface="Tahoma"/>
                <a:cs typeface="Tahoma"/>
              </a:rPr>
              <a:t>Pipelining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95509" y="6016216"/>
            <a:ext cx="3955415" cy="13042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14"/>
              </a:spcBef>
            </a:pPr>
            <a:r>
              <a:rPr dirty="0" sz="1550" spc="145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5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supports</a:t>
            </a:r>
            <a:r>
              <a:rPr dirty="0" sz="15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30" b="1">
                <a:solidFill>
                  <a:srgbClr val="272424"/>
                </a:solidFill>
                <a:latin typeface="Tahoma"/>
                <a:cs typeface="Tahoma"/>
              </a:rPr>
              <a:t>pipelined</a:t>
            </a:r>
            <a:r>
              <a:rPr dirty="0" sz="155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272424"/>
                </a:solidFill>
                <a:latin typeface="Tahoma"/>
                <a:cs typeface="Tahoma"/>
              </a:rPr>
              <a:t>transfers</a:t>
            </a:r>
            <a:r>
              <a:rPr dirty="0" sz="155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2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550" spc="105">
                <a:solidFill>
                  <a:srgbClr val="272424"/>
                </a:solidFill>
                <a:latin typeface="Tahoma"/>
                <a:cs typeface="Tahoma"/>
              </a:rPr>
              <a:t>new</a:t>
            </a:r>
            <a:r>
              <a:rPr dirty="0" sz="15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phase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30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begin</a:t>
            </a:r>
            <a:r>
              <a:rPr dirty="0" sz="15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previous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phase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completes, overlapping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operations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maximize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bus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utilization</a:t>
            </a:r>
            <a:r>
              <a:rPr dirty="0" sz="15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throughput.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67550" y="1752600"/>
            <a:ext cx="190500" cy="3562350"/>
          </a:xfrm>
          <a:custGeom>
            <a:avLst/>
            <a:gdLst/>
            <a:ahLst/>
            <a:cxnLst/>
            <a:rect l="l" t="t" r="r" b="b"/>
            <a:pathLst>
              <a:path w="190500" h="3562350">
                <a:moveTo>
                  <a:pt x="0" y="3562350"/>
                </a:moveTo>
                <a:lnTo>
                  <a:pt x="190500" y="3562350"/>
                </a:lnTo>
                <a:lnTo>
                  <a:pt x="190500" y="0"/>
                </a:lnTo>
                <a:lnTo>
                  <a:pt x="0" y="0"/>
                </a:lnTo>
                <a:lnTo>
                  <a:pt x="0" y="356235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2307" y="471805"/>
            <a:ext cx="2446020" cy="5410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/>
              <a:t>AHB</a:t>
            </a:r>
            <a:r>
              <a:rPr dirty="0" sz="3350" spc="-100"/>
              <a:t> </a:t>
            </a:r>
            <a:r>
              <a:rPr dirty="0" sz="3350" spc="50"/>
              <a:t>STATE</a:t>
            </a:r>
            <a:endParaRPr sz="3350"/>
          </a:p>
        </p:txBody>
      </p:sp>
      <p:grpSp>
        <p:nvGrpSpPr>
          <p:cNvPr id="3" name="object 3"/>
          <p:cNvGrpSpPr/>
          <p:nvPr/>
        </p:nvGrpSpPr>
        <p:grpSpPr>
          <a:xfrm>
            <a:off x="695325" y="1085850"/>
            <a:ext cx="7400925" cy="4467225"/>
            <a:chOff x="695325" y="1085850"/>
            <a:chExt cx="7400925" cy="4467225"/>
          </a:xfrm>
        </p:grpSpPr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5" y="1447800"/>
              <a:ext cx="7362825" cy="40195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20050" y="1095375"/>
              <a:ext cx="66675" cy="4448175"/>
            </a:xfrm>
            <a:custGeom>
              <a:avLst/>
              <a:gdLst/>
              <a:ahLst/>
              <a:cxnLst/>
              <a:rect l="l" t="t" r="r" b="b"/>
              <a:pathLst>
                <a:path w="66675" h="4448175">
                  <a:moveTo>
                    <a:pt x="66675" y="0"/>
                  </a:moveTo>
                  <a:lnTo>
                    <a:pt x="0" y="0"/>
                  </a:lnTo>
                  <a:lnTo>
                    <a:pt x="0" y="4448175"/>
                  </a:lnTo>
                  <a:lnTo>
                    <a:pt x="66675" y="44481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020050" y="1095375"/>
              <a:ext cx="66675" cy="4448175"/>
            </a:xfrm>
            <a:custGeom>
              <a:avLst/>
              <a:gdLst/>
              <a:ahLst/>
              <a:cxnLst/>
              <a:rect l="l" t="t" r="r" b="b"/>
              <a:pathLst>
                <a:path w="66675" h="4448175">
                  <a:moveTo>
                    <a:pt x="0" y="4448175"/>
                  </a:moveTo>
                  <a:lnTo>
                    <a:pt x="66675" y="4448175"/>
                  </a:lnTo>
                  <a:lnTo>
                    <a:pt x="66675" y="0"/>
                  </a:lnTo>
                  <a:lnTo>
                    <a:pt x="0" y="0"/>
                  </a:lnTo>
                  <a:lnTo>
                    <a:pt x="0" y="444817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349233" y="720788"/>
            <a:ext cx="12706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35" b="1">
                <a:latin typeface="Tahoma"/>
                <a:cs typeface="Tahoma"/>
              </a:rPr>
              <a:t>IDLE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 spc="-65" b="1">
                <a:latin typeface="Tahoma"/>
                <a:cs typeface="Tahoma"/>
              </a:rPr>
              <a:t>State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9233" y="981519"/>
            <a:ext cx="5563870" cy="6591934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95"/>
              </a:spcBef>
              <a:buChar char="•"/>
              <a:tabLst>
                <a:tab pos="355600" algn="l"/>
              </a:tabLst>
            </a:pP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Indicates</a:t>
            </a:r>
            <a:r>
              <a:rPr dirty="0" sz="200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30" b="1">
                <a:solidFill>
                  <a:srgbClr val="272424"/>
                </a:solidFill>
                <a:latin typeface="Tahoma"/>
                <a:cs typeface="Tahoma"/>
              </a:rPr>
              <a:t>no</a:t>
            </a:r>
            <a:r>
              <a:rPr dirty="0" sz="2000" spc="-9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272424"/>
                </a:solidFill>
                <a:latin typeface="Tahoma"/>
                <a:cs typeface="Tahoma"/>
              </a:rPr>
              <a:t>valid</a:t>
            </a:r>
            <a:r>
              <a:rPr dirty="0" sz="200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har char="•"/>
              <a:tabLst>
                <a:tab pos="355600" algn="l"/>
              </a:tabLst>
            </a:pPr>
            <a:r>
              <a:rPr dirty="0" sz="2000" spc="110">
                <a:solidFill>
                  <a:srgbClr val="272424"/>
                </a:solidFill>
                <a:latin typeface="Tahoma"/>
                <a:cs typeface="Tahoma"/>
              </a:rPr>
              <a:t>Bus</a:t>
            </a:r>
            <a:r>
              <a:rPr dirty="0" sz="20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20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75">
                <a:solidFill>
                  <a:srgbClr val="272424"/>
                </a:solidFill>
                <a:latin typeface="Tahoma"/>
                <a:cs typeface="Tahoma"/>
              </a:rPr>
              <a:t>inactive</a:t>
            </a:r>
            <a:r>
              <a:rPr dirty="0" sz="200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72424"/>
                </a:solidFill>
                <a:latin typeface="Tahoma"/>
                <a:cs typeface="Tahoma"/>
              </a:rPr>
              <a:t>(no</a:t>
            </a:r>
            <a:r>
              <a:rPr dirty="0" sz="20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72424"/>
                </a:solidFill>
                <a:latin typeface="Tahoma"/>
                <a:cs typeface="Tahoma"/>
              </a:rPr>
              <a:t>data/address</a:t>
            </a:r>
            <a:r>
              <a:rPr dirty="0" sz="20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75">
                <a:solidFill>
                  <a:srgbClr val="272424"/>
                </a:solidFill>
                <a:latin typeface="Tahoma"/>
                <a:cs typeface="Tahoma"/>
              </a:rPr>
              <a:t>phase)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210"/>
              </a:spcBef>
              <a:buChar char="•"/>
              <a:tabLst>
                <a:tab pos="355600" algn="l"/>
              </a:tabLst>
            </a:pPr>
            <a:r>
              <a:rPr dirty="0" sz="2000" spc="130">
                <a:solidFill>
                  <a:srgbClr val="272424"/>
                </a:solidFill>
                <a:latin typeface="Tahoma"/>
                <a:cs typeface="Tahoma"/>
              </a:rPr>
              <a:t>Used</a:t>
            </a:r>
            <a:r>
              <a:rPr dirty="0" sz="20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9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20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95">
                <a:solidFill>
                  <a:srgbClr val="272424"/>
                </a:solidFill>
                <a:latin typeface="Tahoma"/>
                <a:cs typeface="Tahoma"/>
              </a:rPr>
              <a:t>Master</a:t>
            </a:r>
            <a:r>
              <a:rPr dirty="0" sz="20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90">
                <a:solidFill>
                  <a:srgbClr val="272424"/>
                </a:solidFill>
                <a:latin typeface="Tahoma"/>
                <a:cs typeface="Tahoma"/>
              </a:rPr>
              <a:t>doesn’t</a:t>
            </a:r>
            <a:r>
              <a:rPr dirty="0" sz="200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want</a:t>
            </a:r>
            <a:r>
              <a:rPr dirty="0" sz="20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20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95">
                <a:solidFill>
                  <a:srgbClr val="272424"/>
                </a:solidFill>
                <a:latin typeface="Tahoma"/>
                <a:cs typeface="Tahoma"/>
              </a:rPr>
              <a:t>use</a:t>
            </a:r>
            <a:endParaRPr sz="20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6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200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90">
                <a:solidFill>
                  <a:srgbClr val="272424"/>
                </a:solidFill>
                <a:latin typeface="Tahoma"/>
                <a:cs typeface="Tahoma"/>
              </a:rPr>
              <a:t>bus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Char char="•"/>
              <a:tabLst>
                <a:tab pos="355600" algn="l"/>
              </a:tabLst>
            </a:pPr>
            <a:r>
              <a:rPr dirty="0" sz="2000" spc="100">
                <a:solidFill>
                  <a:srgbClr val="272424"/>
                </a:solidFill>
                <a:latin typeface="Tahoma"/>
                <a:cs typeface="Tahoma"/>
              </a:rPr>
              <a:t>Slave</a:t>
            </a:r>
            <a:r>
              <a:rPr dirty="0" sz="2000" spc="-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50" b="1">
                <a:solidFill>
                  <a:srgbClr val="272424"/>
                </a:solidFill>
                <a:latin typeface="Tahoma"/>
                <a:cs typeface="Tahoma"/>
              </a:rPr>
              <a:t>ignores</a:t>
            </a:r>
            <a:r>
              <a:rPr dirty="0" sz="2000" spc="-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272424"/>
                </a:solidFill>
                <a:latin typeface="Tahoma"/>
                <a:cs typeface="Tahoma"/>
              </a:rPr>
              <a:t>signals</a:t>
            </a:r>
            <a:r>
              <a:rPr dirty="0" sz="2000" spc="-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65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2000" spc="-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2000" spc="-1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272424"/>
                </a:solidFill>
                <a:latin typeface="Tahoma"/>
                <a:cs typeface="Tahoma"/>
              </a:rPr>
              <a:t>state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Clr>
                <a:srgbClr val="272424"/>
              </a:buClr>
              <a:buFont typeface="Tahoma"/>
              <a:buChar char="•"/>
            </a:pPr>
            <a:endParaRPr sz="2000">
              <a:latin typeface="Tahoma"/>
              <a:cs typeface="Tahoma"/>
            </a:endParaRPr>
          </a:p>
          <a:p>
            <a:pPr marL="147320">
              <a:lnSpc>
                <a:spcPct val="100000"/>
              </a:lnSpc>
            </a:pPr>
            <a:r>
              <a:rPr dirty="0" sz="2000" b="1">
                <a:latin typeface="Tahoma"/>
                <a:cs typeface="Tahoma"/>
              </a:rPr>
              <a:t>NONSEQ</a:t>
            </a:r>
            <a:r>
              <a:rPr dirty="0" sz="2000" spc="-110" b="1">
                <a:latin typeface="Tahoma"/>
                <a:cs typeface="Tahoma"/>
              </a:rPr>
              <a:t> </a:t>
            </a:r>
            <a:r>
              <a:rPr dirty="0" sz="2000" spc="-70" b="1">
                <a:latin typeface="Tahoma"/>
                <a:cs typeface="Tahoma"/>
              </a:rPr>
              <a:t>(Non-</a:t>
            </a:r>
            <a:r>
              <a:rPr dirty="0" sz="2000" spc="-85" b="1">
                <a:latin typeface="Tahoma"/>
                <a:cs typeface="Tahoma"/>
              </a:rPr>
              <a:t>Sequential)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State</a:t>
            </a:r>
            <a:endParaRPr sz="2000">
              <a:latin typeface="Tahoma"/>
              <a:cs typeface="Tahoma"/>
            </a:endParaRPr>
          </a:p>
          <a:p>
            <a:pPr lvl="1" marL="490220" indent="-342900">
              <a:lnSpc>
                <a:spcPct val="100000"/>
              </a:lnSpc>
              <a:spcBef>
                <a:spcPts val="1670"/>
              </a:spcBef>
              <a:buChar char="•"/>
              <a:tabLst>
                <a:tab pos="490220" algn="l"/>
              </a:tabLst>
            </a:pP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Indicates</a:t>
            </a:r>
            <a:r>
              <a:rPr dirty="0" sz="2000" spc="-1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105" b="1">
                <a:solidFill>
                  <a:srgbClr val="272424"/>
                </a:solidFill>
                <a:latin typeface="Tahoma"/>
                <a:cs typeface="Tahoma"/>
              </a:rPr>
              <a:t>start</a:t>
            </a:r>
            <a:r>
              <a:rPr dirty="0" sz="200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2000" spc="-9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200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272424"/>
                </a:solidFill>
                <a:latin typeface="Tahoma"/>
                <a:cs typeface="Tahoma"/>
              </a:rPr>
              <a:t>new</a:t>
            </a:r>
            <a:r>
              <a:rPr dirty="0" sz="2000" spc="-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2000">
              <a:latin typeface="Tahoma"/>
              <a:cs typeface="Tahoma"/>
            </a:endParaRPr>
          </a:p>
          <a:p>
            <a:pPr lvl="1" marL="490220" indent="-342900">
              <a:lnSpc>
                <a:spcPct val="100000"/>
              </a:lnSpc>
              <a:spcBef>
                <a:spcPts val="1205"/>
              </a:spcBef>
              <a:buChar char="•"/>
              <a:tabLst>
                <a:tab pos="490220" algn="l"/>
              </a:tabLst>
            </a:pPr>
            <a:r>
              <a:rPr dirty="0" sz="2000" spc="125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2000" spc="-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2000" spc="-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100" b="1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2000" spc="-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272424"/>
                </a:solidFill>
                <a:latin typeface="Tahoma"/>
                <a:cs typeface="Tahoma"/>
              </a:rPr>
              <a:t>related</a:t>
            </a:r>
            <a:r>
              <a:rPr dirty="0" sz="200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2000" spc="-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72424"/>
                </a:solidFill>
                <a:latin typeface="Tahoma"/>
                <a:cs typeface="Tahoma"/>
              </a:rPr>
              <a:t>previous</a:t>
            </a:r>
            <a:r>
              <a:rPr dirty="0" sz="200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2000">
              <a:latin typeface="Tahoma"/>
              <a:cs typeface="Tahoma"/>
            </a:endParaRPr>
          </a:p>
          <a:p>
            <a:pPr lvl="1" marL="490220" indent="-342900">
              <a:lnSpc>
                <a:spcPct val="100000"/>
              </a:lnSpc>
              <a:spcBef>
                <a:spcPts val="1205"/>
              </a:spcBef>
              <a:buChar char="•"/>
              <a:tabLst>
                <a:tab pos="490220" algn="l"/>
              </a:tabLst>
            </a:pPr>
            <a:r>
              <a:rPr dirty="0" sz="2000" spc="135">
                <a:solidFill>
                  <a:srgbClr val="272424"/>
                </a:solidFill>
                <a:latin typeface="Tahoma"/>
                <a:cs typeface="Tahoma"/>
              </a:rPr>
              <a:t>Used</a:t>
            </a:r>
            <a:r>
              <a:rPr dirty="0" sz="20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200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72424"/>
                </a:solidFill>
                <a:latin typeface="Tahoma"/>
                <a:cs typeface="Tahoma"/>
              </a:rPr>
              <a:t>First</a:t>
            </a:r>
            <a:r>
              <a:rPr dirty="0" sz="200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20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450"/>
              </a:spcBef>
              <a:buClr>
                <a:srgbClr val="272424"/>
              </a:buClr>
              <a:buFont typeface="Tahoma"/>
              <a:buChar char="•"/>
            </a:pPr>
            <a:endParaRPr sz="2000">
              <a:latin typeface="Tahoma"/>
              <a:cs typeface="Tahoma"/>
            </a:endParaRPr>
          </a:p>
          <a:p>
            <a:pPr marL="149860">
              <a:lnSpc>
                <a:spcPct val="100000"/>
              </a:lnSpc>
            </a:pPr>
            <a:r>
              <a:rPr dirty="0" sz="2000" b="1">
                <a:latin typeface="Tahoma"/>
                <a:cs typeface="Tahoma"/>
              </a:rPr>
              <a:t>SEQ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 spc="-95" b="1">
                <a:latin typeface="Tahoma"/>
                <a:cs typeface="Tahoma"/>
              </a:rPr>
              <a:t>(Sequential)</a:t>
            </a:r>
            <a:r>
              <a:rPr dirty="0" sz="2000" spc="-55" b="1">
                <a:latin typeface="Tahoma"/>
                <a:cs typeface="Tahoma"/>
              </a:rPr>
              <a:t> </a:t>
            </a:r>
            <a:r>
              <a:rPr dirty="0" sz="2000" spc="-20" b="1">
                <a:latin typeface="Tahoma"/>
                <a:cs typeface="Tahoma"/>
              </a:rPr>
              <a:t>State</a:t>
            </a:r>
            <a:endParaRPr sz="2000">
              <a:latin typeface="Tahoma"/>
              <a:cs typeface="Tahoma"/>
            </a:endParaRPr>
          </a:p>
          <a:p>
            <a:pPr lvl="1" marL="492759" indent="-342900">
              <a:lnSpc>
                <a:spcPct val="100000"/>
              </a:lnSpc>
              <a:spcBef>
                <a:spcPts val="1350"/>
              </a:spcBef>
              <a:buChar char="•"/>
              <a:tabLst>
                <a:tab pos="492759" algn="l"/>
              </a:tabLst>
            </a:pPr>
            <a:r>
              <a:rPr dirty="0" sz="2000" spc="55">
                <a:solidFill>
                  <a:srgbClr val="272424"/>
                </a:solidFill>
                <a:latin typeface="Tahoma"/>
                <a:cs typeface="Tahoma"/>
              </a:rPr>
              <a:t>Indicates</a:t>
            </a:r>
            <a:r>
              <a:rPr dirty="0" sz="2000" spc="-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272424"/>
                </a:solidFill>
                <a:latin typeface="Tahoma"/>
                <a:cs typeface="Tahoma"/>
              </a:rPr>
              <a:t>continuation</a:t>
            </a:r>
            <a:r>
              <a:rPr dirty="0" sz="2000" spc="-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272424"/>
                </a:solidFill>
                <a:latin typeface="Tahoma"/>
                <a:cs typeface="Tahoma"/>
              </a:rPr>
              <a:t>of </a:t>
            </a:r>
            <a:r>
              <a:rPr dirty="0" sz="2000" spc="-80" b="1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2000" spc="-7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65" b="1">
                <a:solidFill>
                  <a:srgbClr val="272424"/>
                </a:solidFill>
                <a:latin typeface="Tahoma"/>
                <a:cs typeface="Tahoma"/>
              </a:rPr>
              <a:t>burst </a:t>
            </a:r>
            <a:r>
              <a:rPr dirty="0" sz="2000" spc="-10" b="1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2000">
              <a:latin typeface="Tahoma"/>
              <a:cs typeface="Tahoma"/>
            </a:endParaRPr>
          </a:p>
          <a:p>
            <a:pPr lvl="1" marL="492759" indent="-342900">
              <a:lnSpc>
                <a:spcPct val="100000"/>
              </a:lnSpc>
              <a:spcBef>
                <a:spcPts val="1205"/>
              </a:spcBef>
              <a:buChar char="•"/>
              <a:tabLst>
                <a:tab pos="492759" algn="l"/>
              </a:tabLst>
            </a:pPr>
            <a:r>
              <a:rPr dirty="0" sz="2000" spc="125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2000" spc="-1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2000" spc="-1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272424"/>
                </a:solidFill>
                <a:latin typeface="Tahoma"/>
                <a:cs typeface="Tahoma"/>
              </a:rPr>
              <a:t>sequentially</a:t>
            </a:r>
            <a:r>
              <a:rPr dirty="0" sz="200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272424"/>
                </a:solidFill>
                <a:latin typeface="Tahoma"/>
                <a:cs typeface="Tahoma"/>
              </a:rPr>
              <a:t>related</a:t>
            </a:r>
            <a:r>
              <a:rPr dirty="0" sz="2000" spc="-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72424"/>
                </a:solidFill>
                <a:latin typeface="Tahoma"/>
                <a:cs typeface="Tahoma"/>
              </a:rPr>
              <a:t>warpped</a:t>
            </a:r>
            <a:endParaRPr sz="2000">
              <a:latin typeface="Tahoma"/>
              <a:cs typeface="Tahoma"/>
            </a:endParaRPr>
          </a:p>
          <a:p>
            <a:pPr lvl="1" marL="492759" indent="-342900">
              <a:lnSpc>
                <a:spcPct val="100000"/>
              </a:lnSpc>
              <a:spcBef>
                <a:spcPts val="1205"/>
              </a:spcBef>
              <a:buChar char="•"/>
              <a:tabLst>
                <a:tab pos="492759" algn="l"/>
              </a:tabLst>
            </a:pPr>
            <a:r>
              <a:rPr dirty="0" sz="2000" spc="7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20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72424"/>
                </a:solidFill>
                <a:latin typeface="Tahoma"/>
                <a:cs typeface="Tahoma"/>
              </a:rPr>
              <a:t>incremented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9925" y="524256"/>
            <a:ext cx="5387975" cy="5410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/>
              <a:t>AHB</a:t>
            </a:r>
            <a:r>
              <a:rPr dirty="0" sz="3350" spc="-250"/>
              <a:t> </a:t>
            </a:r>
            <a:r>
              <a:rPr dirty="0" sz="3350" spc="-165"/>
              <a:t>Data</a:t>
            </a:r>
            <a:r>
              <a:rPr dirty="0" sz="3350" spc="-80"/>
              <a:t> </a:t>
            </a:r>
            <a:r>
              <a:rPr dirty="0" sz="3350" spc="-60"/>
              <a:t>Transfer</a:t>
            </a:r>
            <a:r>
              <a:rPr dirty="0" sz="3350" spc="-150"/>
              <a:t> </a:t>
            </a:r>
            <a:r>
              <a:rPr dirty="0" sz="3350" spc="-10"/>
              <a:t>Phases</a:t>
            </a:r>
            <a:endParaRPr sz="3350"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493" y="1647052"/>
            <a:ext cx="6629960" cy="26875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9925" y="817067"/>
            <a:ext cx="13254990" cy="695896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7125970">
              <a:lnSpc>
                <a:spcPct val="100000"/>
              </a:lnSpc>
              <a:spcBef>
                <a:spcPts val="835"/>
              </a:spcBef>
            </a:pPr>
            <a:r>
              <a:rPr dirty="0" sz="2000" spc="-20" b="1">
                <a:latin typeface="Tahoma"/>
                <a:cs typeface="Tahoma"/>
              </a:rPr>
              <a:t>Address</a:t>
            </a:r>
            <a:r>
              <a:rPr dirty="0" sz="2000" spc="-9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Phase</a:t>
            </a:r>
            <a:endParaRPr sz="2000">
              <a:latin typeface="Tahoma"/>
              <a:cs typeface="Tahoma"/>
            </a:endParaRPr>
          </a:p>
          <a:p>
            <a:pPr marL="7411720" indent="-28575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7411720" algn="l"/>
              </a:tabLst>
            </a:pPr>
            <a:r>
              <a:rPr dirty="0" sz="1800" spc="105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8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location</a:t>
            </a:r>
            <a:r>
              <a:rPr dirty="0" sz="18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,Type</a:t>
            </a:r>
            <a:r>
              <a:rPr dirty="0" sz="18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8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transfer,</a:t>
            </a:r>
            <a:r>
              <a:rPr dirty="0" sz="180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120">
                <a:solidFill>
                  <a:srgbClr val="272424"/>
                </a:solidFill>
                <a:latin typeface="Tahoma"/>
                <a:cs typeface="Tahoma"/>
              </a:rPr>
              <a:t>Size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272424"/>
                </a:solidFill>
                <a:latin typeface="Tahoma"/>
                <a:cs typeface="Tahoma"/>
              </a:rPr>
              <a:t>burst</a:t>
            </a:r>
            <a:endParaRPr sz="1800">
              <a:latin typeface="Tahoma"/>
              <a:cs typeface="Tahoma"/>
            </a:endParaRPr>
          </a:p>
          <a:p>
            <a:pPr marL="7411720">
              <a:lnSpc>
                <a:spcPct val="100000"/>
              </a:lnSpc>
              <a:spcBef>
                <a:spcPts val="1145"/>
              </a:spcBef>
            </a:pPr>
            <a:r>
              <a:rPr dirty="0" sz="1800" spc="40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endParaRPr sz="1800">
              <a:latin typeface="Tahoma"/>
              <a:cs typeface="Tahoma"/>
            </a:endParaRPr>
          </a:p>
          <a:p>
            <a:pPr marL="7468870" marR="915035" indent="-343535">
              <a:lnSpc>
                <a:spcPts val="3229"/>
              </a:lnSpc>
              <a:spcBef>
                <a:spcPts val="285"/>
              </a:spcBef>
              <a:buFont typeface="Arial"/>
              <a:buChar char="•"/>
              <a:tabLst>
                <a:tab pos="7468870" algn="l"/>
              </a:tabLst>
            </a:pPr>
            <a:r>
              <a:rPr dirty="0" sz="1800" spc="130">
                <a:solidFill>
                  <a:srgbClr val="272424"/>
                </a:solidFill>
                <a:latin typeface="Tahoma"/>
                <a:cs typeface="Tahoma"/>
              </a:rPr>
              <a:t>Used</a:t>
            </a:r>
            <a:r>
              <a:rPr dirty="0" sz="1800" spc="-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8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85" b="1">
                <a:solidFill>
                  <a:srgbClr val="272424"/>
                </a:solidFill>
                <a:latin typeface="Tahoma"/>
                <a:cs typeface="Tahoma"/>
              </a:rPr>
              <a:t>inform</a:t>
            </a:r>
            <a:r>
              <a:rPr dirty="0" sz="180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95" b="1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35" b="1">
                <a:solidFill>
                  <a:srgbClr val="272424"/>
                </a:solidFill>
                <a:latin typeface="Tahoma"/>
                <a:cs typeface="Tahoma"/>
              </a:rPr>
              <a:t>slave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70" b="1">
                <a:solidFill>
                  <a:srgbClr val="272424"/>
                </a:solidFill>
                <a:latin typeface="Tahoma"/>
                <a:cs typeface="Tahoma"/>
              </a:rPr>
              <a:t>about</a:t>
            </a:r>
            <a:r>
              <a:rPr dirty="0" sz="180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8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40" b="1">
                <a:solidFill>
                  <a:srgbClr val="272424"/>
                </a:solidFill>
                <a:latin typeface="Tahoma"/>
                <a:cs typeface="Tahoma"/>
              </a:rPr>
              <a:t>upcoming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operation</a:t>
            </a:r>
            <a:endParaRPr sz="1800">
              <a:latin typeface="Tahoma"/>
              <a:cs typeface="Tahoma"/>
            </a:endParaRPr>
          </a:p>
          <a:p>
            <a:pPr marL="7468870" indent="-342900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7468870" algn="l"/>
              </a:tabLst>
            </a:pPr>
            <a:r>
              <a:rPr dirty="0" sz="1800" spc="105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800" spc="-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phase</a:t>
            </a:r>
            <a:r>
              <a:rPr dirty="0" sz="180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8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next</a:t>
            </a:r>
            <a:r>
              <a:rPr dirty="0" sz="18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r>
              <a:rPr dirty="0" sz="180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95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8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55" b="1">
                <a:solidFill>
                  <a:srgbClr val="272424"/>
                </a:solidFill>
                <a:latin typeface="Tahoma"/>
                <a:cs typeface="Tahoma"/>
              </a:rPr>
              <a:t>overlap</a:t>
            </a: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endParaRPr sz="1800">
              <a:latin typeface="Tahoma"/>
              <a:cs typeface="Tahoma"/>
            </a:endParaRPr>
          </a:p>
          <a:p>
            <a:pPr marL="7468870">
              <a:lnSpc>
                <a:spcPct val="100000"/>
              </a:lnSpc>
              <a:spcBef>
                <a:spcPts val="1075"/>
              </a:spcBef>
            </a:pP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current</a:t>
            </a:r>
            <a:r>
              <a:rPr dirty="0" sz="18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phase</a:t>
            </a:r>
            <a:r>
              <a:rPr dirty="0" sz="18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Tahoma"/>
                <a:cs typeface="Tahoma"/>
              </a:rPr>
              <a:t>(pipelining)</a:t>
            </a:r>
            <a:endParaRPr sz="1800">
              <a:latin typeface="Tahoma"/>
              <a:cs typeface="Tahoma"/>
            </a:endParaRPr>
          </a:p>
          <a:p>
            <a:pPr marL="7468870" marR="5080" indent="-343535">
              <a:lnSpc>
                <a:spcPct val="149500"/>
              </a:lnSpc>
              <a:spcBef>
                <a:spcPts val="70"/>
              </a:spcBef>
              <a:buFont typeface="Arial"/>
              <a:buChar char="•"/>
              <a:tabLst>
                <a:tab pos="7468870" algn="l"/>
              </a:tabLst>
            </a:pP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Slave</a:t>
            </a:r>
            <a:r>
              <a:rPr dirty="0" sz="18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90" b="1">
                <a:solidFill>
                  <a:srgbClr val="272424"/>
                </a:solidFill>
                <a:latin typeface="Tahoma"/>
                <a:cs typeface="Tahoma"/>
              </a:rPr>
              <a:t>interprets</a:t>
            </a:r>
            <a:r>
              <a:rPr dirty="0" sz="1800" spc="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80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45" b="1">
                <a:solidFill>
                  <a:srgbClr val="272424"/>
                </a:solidFill>
                <a:latin typeface="Tahoma"/>
                <a:cs typeface="Tahoma"/>
              </a:rPr>
              <a:t>prepares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8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272424"/>
                </a:solidFill>
                <a:latin typeface="Tahoma"/>
                <a:cs typeface="Tahoma"/>
              </a:rPr>
              <a:t>operation</a:t>
            </a:r>
            <a:r>
              <a:rPr dirty="0" sz="18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8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30">
                <a:solidFill>
                  <a:srgbClr val="272424"/>
                </a:solidFill>
                <a:latin typeface="Tahoma"/>
                <a:cs typeface="Tahoma"/>
              </a:rPr>
              <a:t>this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phase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395"/>
              </a:lnSpc>
            </a:pPr>
            <a:r>
              <a:rPr dirty="0" sz="2000" spc="-95" b="1">
                <a:latin typeface="Tahoma"/>
                <a:cs typeface="Tahoma"/>
              </a:rPr>
              <a:t>Data</a:t>
            </a:r>
            <a:r>
              <a:rPr dirty="0" sz="2000" spc="-45" b="1">
                <a:latin typeface="Tahoma"/>
                <a:cs typeface="Tahoma"/>
              </a:rPr>
              <a:t> </a:t>
            </a:r>
            <a:r>
              <a:rPr dirty="0" sz="2000" spc="-20" b="1">
                <a:latin typeface="Tahoma"/>
                <a:cs typeface="Tahoma"/>
              </a:rPr>
              <a:t>Phase</a:t>
            </a:r>
            <a:endParaRPr sz="2000">
              <a:latin typeface="Tahoma"/>
              <a:cs typeface="Tahoma"/>
            </a:endParaRPr>
          </a:p>
          <a:p>
            <a:pPr marL="533400" indent="-285750">
              <a:lnSpc>
                <a:spcPct val="100000"/>
              </a:lnSpc>
              <a:spcBef>
                <a:spcPts val="1825"/>
              </a:spcBef>
              <a:buFont typeface="Arial"/>
              <a:buChar char="•"/>
              <a:tabLst>
                <a:tab pos="533400" algn="l"/>
              </a:tabLst>
            </a:pP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Follows</a:t>
            </a:r>
            <a:r>
              <a:rPr dirty="0" sz="18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80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8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272424"/>
                </a:solidFill>
                <a:latin typeface="Tahoma"/>
                <a:cs typeface="Tahoma"/>
              </a:rPr>
              <a:t>phase</a:t>
            </a:r>
            <a:endParaRPr sz="1800">
              <a:latin typeface="Tahoma"/>
              <a:cs typeface="Tahoma"/>
            </a:endParaRPr>
          </a:p>
          <a:p>
            <a:pPr marL="533400" indent="-285750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533400" algn="l"/>
              </a:tabLst>
            </a:pP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Actual</a:t>
            </a:r>
            <a:r>
              <a:rPr dirty="0" sz="18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95" b="1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800" spc="-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75" b="1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r>
              <a:rPr dirty="0" sz="180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65" b="1">
                <a:solidFill>
                  <a:srgbClr val="272424"/>
                </a:solidFill>
                <a:latin typeface="Tahoma"/>
                <a:cs typeface="Tahoma"/>
              </a:rPr>
              <a:t>takes</a:t>
            </a:r>
            <a:r>
              <a:rPr dirty="0" sz="180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place</a:t>
            </a:r>
            <a:endParaRPr sz="1800">
              <a:latin typeface="Tahoma"/>
              <a:cs typeface="Tahoma"/>
            </a:endParaRPr>
          </a:p>
          <a:p>
            <a:pPr marL="533400" indent="-285750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3400" algn="l"/>
              </a:tabLst>
            </a:pPr>
            <a:r>
              <a:rPr dirty="0" sz="1800" spc="125">
                <a:solidFill>
                  <a:srgbClr val="272424"/>
                </a:solidFill>
                <a:latin typeface="Tahoma"/>
                <a:cs typeface="Tahoma"/>
              </a:rPr>
              <a:t>May</a:t>
            </a:r>
            <a:r>
              <a:rPr dirty="0" sz="18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take</a:t>
            </a:r>
            <a:r>
              <a:rPr dirty="0" sz="180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272424"/>
                </a:solidFill>
                <a:latin typeface="Tahoma"/>
                <a:cs typeface="Tahoma"/>
              </a:rPr>
              <a:t>multiple</a:t>
            </a:r>
            <a:r>
              <a:rPr dirty="0" sz="1800" spc="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clock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272424"/>
                </a:solidFill>
                <a:latin typeface="Tahoma"/>
                <a:cs typeface="Tahoma"/>
              </a:rPr>
              <a:t>cycles</a:t>
            </a:r>
            <a:r>
              <a:rPr dirty="0" sz="1800" spc="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272424"/>
                </a:solidFill>
                <a:latin typeface="Tahoma"/>
                <a:cs typeface="Tahoma"/>
              </a:rPr>
              <a:t>depending</a:t>
            </a:r>
            <a:endParaRPr sz="1800">
              <a:latin typeface="Tahoma"/>
              <a:cs typeface="Tahoma"/>
            </a:endParaRPr>
          </a:p>
          <a:p>
            <a:pPr marL="508634">
              <a:lnSpc>
                <a:spcPct val="100000"/>
              </a:lnSpc>
              <a:spcBef>
                <a:spcPts val="1065"/>
              </a:spcBef>
            </a:pPr>
            <a:r>
              <a:rPr dirty="0" sz="1800" spc="6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slave</a:t>
            </a:r>
            <a:r>
              <a:rPr dirty="0" sz="18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272424"/>
                </a:solidFill>
                <a:latin typeface="Tahoma"/>
                <a:cs typeface="Tahoma"/>
              </a:rPr>
              <a:t>readiness</a:t>
            </a:r>
            <a:endParaRPr sz="1800">
              <a:latin typeface="Tahoma"/>
              <a:cs typeface="Tahoma"/>
            </a:endParaRPr>
          </a:p>
          <a:p>
            <a:pPr marL="533400" indent="-285750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3400" algn="l"/>
              </a:tabLst>
            </a:pPr>
            <a:r>
              <a:rPr dirty="0" sz="1800" spc="55">
                <a:solidFill>
                  <a:srgbClr val="272424"/>
                </a:solidFill>
                <a:latin typeface="Tahoma"/>
                <a:cs typeface="Tahoma"/>
              </a:rPr>
              <a:t>Includes</a:t>
            </a:r>
            <a:r>
              <a:rPr dirty="0" sz="18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75" b="1">
                <a:solidFill>
                  <a:srgbClr val="272424"/>
                </a:solidFill>
                <a:latin typeface="Tahoma"/>
                <a:cs typeface="Tahoma"/>
              </a:rPr>
              <a:t>status/response</a:t>
            </a:r>
            <a:r>
              <a:rPr dirty="0" sz="180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endParaRPr sz="1800">
              <a:latin typeface="Tahoma"/>
              <a:cs typeface="Tahoma"/>
            </a:endParaRPr>
          </a:p>
          <a:p>
            <a:pPr marL="533400" indent="-285750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3400" algn="l"/>
              </a:tabLst>
            </a:pP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r>
              <a:rPr dirty="0" sz="18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completes</a:t>
            </a:r>
            <a:r>
              <a:rPr dirty="0" sz="18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272424"/>
                </a:solidFill>
                <a:latin typeface="Tahoma"/>
                <a:cs typeface="Tahoma"/>
              </a:rPr>
              <a:t>only</a:t>
            </a:r>
            <a:r>
              <a:rPr dirty="0" sz="18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85">
                <a:solidFill>
                  <a:srgbClr val="272424"/>
                </a:solidFill>
                <a:latin typeface="Tahoma"/>
                <a:cs typeface="Tahoma"/>
              </a:rPr>
              <a:t>when</a:t>
            </a:r>
            <a:r>
              <a:rPr dirty="0" sz="18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800" spc="75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dirty="0" sz="180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272424"/>
                </a:solidFill>
                <a:latin typeface="Tahoma"/>
                <a:cs typeface="Tahoma"/>
              </a:rPr>
              <a:t>indicates</a:t>
            </a:r>
            <a:endParaRPr sz="1800">
              <a:latin typeface="Tahoma"/>
              <a:cs typeface="Tahoma"/>
            </a:endParaRPr>
          </a:p>
          <a:p>
            <a:pPr marL="556260">
              <a:lnSpc>
                <a:spcPct val="100000"/>
              </a:lnSpc>
              <a:spcBef>
                <a:spcPts val="1145"/>
              </a:spcBef>
            </a:pPr>
            <a:r>
              <a:rPr dirty="0" sz="1800" spc="-95" b="1">
                <a:solidFill>
                  <a:srgbClr val="272424"/>
                </a:solidFill>
                <a:latin typeface="Tahoma"/>
                <a:cs typeface="Tahoma"/>
              </a:rPr>
              <a:t>ready/valid</a:t>
            </a:r>
            <a:r>
              <a:rPr dirty="0" sz="1800" spc="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72424"/>
                </a:solidFill>
                <a:latin typeface="Tahoma"/>
                <a:cs typeface="Tahoma"/>
              </a:rPr>
              <a:t>condition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5750" y="4410075"/>
            <a:ext cx="7153275" cy="95250"/>
            <a:chOff x="285750" y="4410075"/>
            <a:chExt cx="7153275" cy="95250"/>
          </a:xfrm>
        </p:grpSpPr>
        <p:sp>
          <p:nvSpPr>
            <p:cNvPr id="6" name="object 6"/>
            <p:cNvSpPr/>
            <p:nvPr/>
          </p:nvSpPr>
          <p:spPr>
            <a:xfrm>
              <a:off x="295275" y="4419600"/>
              <a:ext cx="7134225" cy="76200"/>
            </a:xfrm>
            <a:custGeom>
              <a:avLst/>
              <a:gdLst/>
              <a:ahLst/>
              <a:cxnLst/>
              <a:rect l="l" t="t" r="r" b="b"/>
              <a:pathLst>
                <a:path w="7134225" h="76200">
                  <a:moveTo>
                    <a:pt x="7134225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134225" y="76200"/>
                  </a:lnTo>
                  <a:lnTo>
                    <a:pt x="7134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5275" y="4419600"/>
              <a:ext cx="7134225" cy="76200"/>
            </a:xfrm>
            <a:custGeom>
              <a:avLst/>
              <a:gdLst/>
              <a:ahLst/>
              <a:cxnLst/>
              <a:rect l="l" t="t" r="r" b="b"/>
              <a:pathLst>
                <a:path w="7134225" h="76200">
                  <a:moveTo>
                    <a:pt x="0" y="76200"/>
                  </a:moveTo>
                  <a:lnTo>
                    <a:pt x="7134225" y="76200"/>
                  </a:lnTo>
                  <a:lnTo>
                    <a:pt x="7134225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A diagram of a diagram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4296" y="4874205"/>
            <a:ext cx="6579050" cy="2203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021080">
              <a:lnSpc>
                <a:spcPct val="100000"/>
              </a:lnSpc>
              <a:spcBef>
                <a:spcPts val="125"/>
              </a:spcBef>
            </a:pPr>
            <a:r>
              <a:rPr dirty="0"/>
              <a:t>Key</a:t>
            </a:r>
            <a:r>
              <a:rPr dirty="0" spc="-95"/>
              <a:t> </a:t>
            </a:r>
            <a:r>
              <a:rPr dirty="0"/>
              <a:t>AHB</a:t>
            </a:r>
            <a:r>
              <a:rPr dirty="0" spc="-114"/>
              <a:t> </a:t>
            </a:r>
            <a:r>
              <a:rPr dirty="0" spc="-55"/>
              <a:t>Features</a:t>
            </a:r>
            <a:r>
              <a:rPr dirty="0" spc="-135"/>
              <a:t> </a:t>
            </a:r>
            <a:r>
              <a:rPr dirty="0" spc="-10"/>
              <a:t>for</a:t>
            </a:r>
            <a:r>
              <a:rPr dirty="0" spc="-160"/>
              <a:t> </a:t>
            </a:r>
            <a:r>
              <a:rPr dirty="0" spc="-55"/>
              <a:t>Efficient</a:t>
            </a:r>
            <a:r>
              <a:rPr dirty="0" spc="-110"/>
              <a:t> </a:t>
            </a:r>
            <a:r>
              <a:rPr dirty="0" spc="-90"/>
              <a:t>Data</a:t>
            </a:r>
            <a:r>
              <a:rPr dirty="0" spc="-95"/>
              <a:t> </a:t>
            </a:r>
            <a:r>
              <a:rPr dirty="0" spc="-10"/>
              <a:t>Transfer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78304" y="1163955"/>
            <a:ext cx="5358765" cy="1663064"/>
            <a:chOff x="1678304" y="1163955"/>
            <a:chExt cx="5358765" cy="1663064"/>
          </a:xfrm>
        </p:grpSpPr>
        <p:sp>
          <p:nvSpPr>
            <p:cNvPr id="4" name="object 4"/>
            <p:cNvSpPr/>
            <p:nvPr/>
          </p:nvSpPr>
          <p:spPr>
            <a:xfrm>
              <a:off x="1685924" y="1171575"/>
              <a:ext cx="5343525" cy="1647825"/>
            </a:xfrm>
            <a:custGeom>
              <a:avLst/>
              <a:gdLst/>
              <a:ahLst/>
              <a:cxnLst/>
              <a:rect l="l" t="t" r="r" b="b"/>
              <a:pathLst>
                <a:path w="5343525" h="1647825">
                  <a:moveTo>
                    <a:pt x="0" y="59817"/>
                  </a:moveTo>
                  <a:lnTo>
                    <a:pt x="4702" y="36540"/>
                  </a:lnTo>
                  <a:lnTo>
                    <a:pt x="17526" y="17525"/>
                  </a:lnTo>
                  <a:lnTo>
                    <a:pt x="36540" y="4702"/>
                  </a:lnTo>
                  <a:lnTo>
                    <a:pt x="59817" y="0"/>
                  </a:lnTo>
                  <a:lnTo>
                    <a:pt x="5283708" y="0"/>
                  </a:lnTo>
                  <a:lnTo>
                    <a:pt x="5306984" y="4702"/>
                  </a:lnTo>
                  <a:lnTo>
                    <a:pt x="5325999" y="17525"/>
                  </a:lnTo>
                  <a:lnTo>
                    <a:pt x="5338822" y="36540"/>
                  </a:lnTo>
                  <a:lnTo>
                    <a:pt x="5343525" y="59817"/>
                  </a:lnTo>
                  <a:lnTo>
                    <a:pt x="5343525" y="1588008"/>
                  </a:lnTo>
                  <a:lnTo>
                    <a:pt x="5338822" y="1611284"/>
                  </a:lnTo>
                  <a:lnTo>
                    <a:pt x="5325999" y="1630299"/>
                  </a:lnTo>
                  <a:lnTo>
                    <a:pt x="5306984" y="1643122"/>
                  </a:lnTo>
                  <a:lnTo>
                    <a:pt x="5283708" y="1647825"/>
                  </a:lnTo>
                  <a:lnTo>
                    <a:pt x="59817" y="1647825"/>
                  </a:lnTo>
                  <a:lnTo>
                    <a:pt x="36540" y="1643122"/>
                  </a:lnTo>
                  <a:lnTo>
                    <a:pt x="17526" y="1630299"/>
                  </a:lnTo>
                  <a:lnTo>
                    <a:pt x="4702" y="1611284"/>
                  </a:lnTo>
                  <a:lnTo>
                    <a:pt x="0" y="1588008"/>
                  </a:lnTo>
                  <a:lnTo>
                    <a:pt x="0" y="59817"/>
                  </a:lnTo>
                  <a:close/>
                </a:path>
              </a:pathLst>
            </a:custGeom>
            <a:ln w="1524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04974" y="1181100"/>
              <a:ext cx="5305425" cy="428625"/>
            </a:xfrm>
            <a:custGeom>
              <a:avLst/>
              <a:gdLst/>
              <a:ahLst/>
              <a:cxnLst/>
              <a:rect l="l" t="t" r="r" b="b"/>
              <a:pathLst>
                <a:path w="5305425" h="428625">
                  <a:moveTo>
                    <a:pt x="5263769" y="0"/>
                  </a:moveTo>
                  <a:lnTo>
                    <a:pt x="41656" y="0"/>
                  </a:lnTo>
                  <a:lnTo>
                    <a:pt x="25449" y="3276"/>
                  </a:lnTo>
                  <a:lnTo>
                    <a:pt x="12207" y="12207"/>
                  </a:lnTo>
                  <a:lnTo>
                    <a:pt x="3276" y="25449"/>
                  </a:lnTo>
                  <a:lnTo>
                    <a:pt x="0" y="41655"/>
                  </a:lnTo>
                  <a:lnTo>
                    <a:pt x="0" y="386969"/>
                  </a:lnTo>
                  <a:lnTo>
                    <a:pt x="3276" y="403175"/>
                  </a:lnTo>
                  <a:lnTo>
                    <a:pt x="12207" y="416417"/>
                  </a:lnTo>
                  <a:lnTo>
                    <a:pt x="25449" y="425348"/>
                  </a:lnTo>
                  <a:lnTo>
                    <a:pt x="41656" y="428625"/>
                  </a:lnTo>
                  <a:lnTo>
                    <a:pt x="5263769" y="428625"/>
                  </a:lnTo>
                  <a:lnTo>
                    <a:pt x="5279975" y="425348"/>
                  </a:lnTo>
                  <a:lnTo>
                    <a:pt x="5293217" y="416417"/>
                  </a:lnTo>
                  <a:lnTo>
                    <a:pt x="5302148" y="403175"/>
                  </a:lnTo>
                  <a:lnTo>
                    <a:pt x="5305425" y="386969"/>
                  </a:lnTo>
                  <a:lnTo>
                    <a:pt x="5305425" y="41655"/>
                  </a:lnTo>
                  <a:lnTo>
                    <a:pt x="5302148" y="25449"/>
                  </a:lnTo>
                  <a:lnTo>
                    <a:pt x="5293217" y="12207"/>
                  </a:lnTo>
                  <a:lnTo>
                    <a:pt x="5279975" y="3276"/>
                  </a:lnTo>
                  <a:lnTo>
                    <a:pt x="5263769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678304" y="2916554"/>
            <a:ext cx="5358765" cy="2301240"/>
            <a:chOff x="1678304" y="2916554"/>
            <a:chExt cx="5358765" cy="2301240"/>
          </a:xfrm>
        </p:grpSpPr>
        <p:sp>
          <p:nvSpPr>
            <p:cNvPr id="7" name="object 7"/>
            <p:cNvSpPr/>
            <p:nvPr/>
          </p:nvSpPr>
          <p:spPr>
            <a:xfrm>
              <a:off x="1685924" y="2924174"/>
              <a:ext cx="5343525" cy="2286000"/>
            </a:xfrm>
            <a:custGeom>
              <a:avLst/>
              <a:gdLst/>
              <a:ahLst/>
              <a:cxnLst/>
              <a:rect l="l" t="t" r="r" b="b"/>
              <a:pathLst>
                <a:path w="5343525" h="2286000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3" y="0"/>
                  </a:lnTo>
                  <a:lnTo>
                    <a:pt x="5283581" y="0"/>
                  </a:lnTo>
                  <a:lnTo>
                    <a:pt x="5306931" y="4704"/>
                  </a:lnTo>
                  <a:lnTo>
                    <a:pt x="5325983" y="17541"/>
                  </a:lnTo>
                  <a:lnTo>
                    <a:pt x="5338820" y="36593"/>
                  </a:lnTo>
                  <a:lnTo>
                    <a:pt x="5343525" y="59944"/>
                  </a:lnTo>
                  <a:lnTo>
                    <a:pt x="5343525" y="2226056"/>
                  </a:lnTo>
                  <a:lnTo>
                    <a:pt x="5338820" y="2249406"/>
                  </a:lnTo>
                  <a:lnTo>
                    <a:pt x="5325983" y="2268458"/>
                  </a:lnTo>
                  <a:lnTo>
                    <a:pt x="5306931" y="2281295"/>
                  </a:lnTo>
                  <a:lnTo>
                    <a:pt x="5283581" y="2286000"/>
                  </a:lnTo>
                  <a:lnTo>
                    <a:pt x="59943" y="2286000"/>
                  </a:lnTo>
                  <a:lnTo>
                    <a:pt x="36593" y="2281295"/>
                  </a:lnTo>
                  <a:lnTo>
                    <a:pt x="17541" y="2268458"/>
                  </a:lnTo>
                  <a:lnTo>
                    <a:pt x="4704" y="2249406"/>
                  </a:lnTo>
                  <a:lnTo>
                    <a:pt x="0" y="2226056"/>
                  </a:lnTo>
                  <a:lnTo>
                    <a:pt x="0" y="59944"/>
                  </a:lnTo>
                  <a:close/>
                </a:path>
              </a:pathLst>
            </a:custGeom>
            <a:ln w="1524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04974" y="2943224"/>
              <a:ext cx="5305425" cy="428625"/>
            </a:xfrm>
            <a:custGeom>
              <a:avLst/>
              <a:gdLst/>
              <a:ahLst/>
              <a:cxnLst/>
              <a:rect l="l" t="t" r="r" b="b"/>
              <a:pathLst>
                <a:path w="5305425" h="428625">
                  <a:moveTo>
                    <a:pt x="5263769" y="0"/>
                  </a:moveTo>
                  <a:lnTo>
                    <a:pt x="41656" y="0"/>
                  </a:lnTo>
                  <a:lnTo>
                    <a:pt x="25449" y="3276"/>
                  </a:lnTo>
                  <a:lnTo>
                    <a:pt x="12207" y="12207"/>
                  </a:lnTo>
                  <a:lnTo>
                    <a:pt x="3276" y="25449"/>
                  </a:lnTo>
                  <a:lnTo>
                    <a:pt x="0" y="41655"/>
                  </a:lnTo>
                  <a:lnTo>
                    <a:pt x="0" y="386969"/>
                  </a:lnTo>
                  <a:lnTo>
                    <a:pt x="3276" y="403175"/>
                  </a:lnTo>
                  <a:lnTo>
                    <a:pt x="12207" y="416417"/>
                  </a:lnTo>
                  <a:lnTo>
                    <a:pt x="25449" y="425348"/>
                  </a:lnTo>
                  <a:lnTo>
                    <a:pt x="41656" y="428625"/>
                  </a:lnTo>
                  <a:lnTo>
                    <a:pt x="5263769" y="428625"/>
                  </a:lnTo>
                  <a:lnTo>
                    <a:pt x="5279975" y="425348"/>
                  </a:lnTo>
                  <a:lnTo>
                    <a:pt x="5293217" y="416417"/>
                  </a:lnTo>
                  <a:lnTo>
                    <a:pt x="5302148" y="403175"/>
                  </a:lnTo>
                  <a:lnTo>
                    <a:pt x="5305425" y="386969"/>
                  </a:lnTo>
                  <a:lnTo>
                    <a:pt x="5305425" y="41655"/>
                  </a:lnTo>
                  <a:lnTo>
                    <a:pt x="5302148" y="25449"/>
                  </a:lnTo>
                  <a:lnTo>
                    <a:pt x="5293217" y="12207"/>
                  </a:lnTo>
                  <a:lnTo>
                    <a:pt x="5279975" y="3276"/>
                  </a:lnTo>
                  <a:lnTo>
                    <a:pt x="5263769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678304" y="5307329"/>
            <a:ext cx="5358765" cy="2358390"/>
            <a:chOff x="1678304" y="5307329"/>
            <a:chExt cx="5358765" cy="2358390"/>
          </a:xfrm>
        </p:grpSpPr>
        <p:sp>
          <p:nvSpPr>
            <p:cNvPr id="10" name="object 10"/>
            <p:cNvSpPr/>
            <p:nvPr/>
          </p:nvSpPr>
          <p:spPr>
            <a:xfrm>
              <a:off x="1685924" y="5314949"/>
              <a:ext cx="5343525" cy="2343150"/>
            </a:xfrm>
            <a:custGeom>
              <a:avLst/>
              <a:gdLst/>
              <a:ahLst/>
              <a:cxnLst/>
              <a:rect l="l" t="t" r="r" b="b"/>
              <a:pathLst>
                <a:path w="5343525" h="2343150">
                  <a:moveTo>
                    <a:pt x="0" y="59817"/>
                  </a:moveTo>
                  <a:lnTo>
                    <a:pt x="4702" y="36540"/>
                  </a:lnTo>
                  <a:lnTo>
                    <a:pt x="17526" y="17526"/>
                  </a:lnTo>
                  <a:lnTo>
                    <a:pt x="36540" y="4702"/>
                  </a:lnTo>
                  <a:lnTo>
                    <a:pt x="59817" y="0"/>
                  </a:lnTo>
                  <a:lnTo>
                    <a:pt x="5283708" y="0"/>
                  </a:lnTo>
                  <a:lnTo>
                    <a:pt x="5306984" y="4702"/>
                  </a:lnTo>
                  <a:lnTo>
                    <a:pt x="5325999" y="17526"/>
                  </a:lnTo>
                  <a:lnTo>
                    <a:pt x="5338822" y="36540"/>
                  </a:lnTo>
                  <a:lnTo>
                    <a:pt x="5343525" y="59817"/>
                  </a:lnTo>
                  <a:lnTo>
                    <a:pt x="5343525" y="2283345"/>
                  </a:lnTo>
                  <a:lnTo>
                    <a:pt x="5338822" y="2306625"/>
                  </a:lnTo>
                  <a:lnTo>
                    <a:pt x="5325999" y="2325635"/>
                  </a:lnTo>
                  <a:lnTo>
                    <a:pt x="5306984" y="2338450"/>
                  </a:lnTo>
                  <a:lnTo>
                    <a:pt x="5283708" y="2343150"/>
                  </a:lnTo>
                  <a:lnTo>
                    <a:pt x="59817" y="2343150"/>
                  </a:lnTo>
                  <a:lnTo>
                    <a:pt x="36540" y="2338450"/>
                  </a:lnTo>
                  <a:lnTo>
                    <a:pt x="17526" y="2325635"/>
                  </a:lnTo>
                  <a:lnTo>
                    <a:pt x="4702" y="2306625"/>
                  </a:lnTo>
                  <a:lnTo>
                    <a:pt x="0" y="2283345"/>
                  </a:lnTo>
                  <a:lnTo>
                    <a:pt x="0" y="59817"/>
                  </a:lnTo>
                  <a:close/>
                </a:path>
              </a:pathLst>
            </a:custGeom>
            <a:ln w="1524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04974" y="5324474"/>
              <a:ext cx="5305425" cy="428625"/>
            </a:xfrm>
            <a:custGeom>
              <a:avLst/>
              <a:gdLst/>
              <a:ahLst/>
              <a:cxnLst/>
              <a:rect l="l" t="t" r="r" b="b"/>
              <a:pathLst>
                <a:path w="5305425" h="428625">
                  <a:moveTo>
                    <a:pt x="5263769" y="0"/>
                  </a:moveTo>
                  <a:lnTo>
                    <a:pt x="41656" y="0"/>
                  </a:lnTo>
                  <a:lnTo>
                    <a:pt x="25449" y="3276"/>
                  </a:lnTo>
                  <a:lnTo>
                    <a:pt x="12207" y="12207"/>
                  </a:lnTo>
                  <a:lnTo>
                    <a:pt x="3276" y="25449"/>
                  </a:lnTo>
                  <a:lnTo>
                    <a:pt x="0" y="41656"/>
                  </a:lnTo>
                  <a:lnTo>
                    <a:pt x="0" y="386969"/>
                  </a:lnTo>
                  <a:lnTo>
                    <a:pt x="3276" y="403175"/>
                  </a:lnTo>
                  <a:lnTo>
                    <a:pt x="12207" y="416417"/>
                  </a:lnTo>
                  <a:lnTo>
                    <a:pt x="25449" y="425348"/>
                  </a:lnTo>
                  <a:lnTo>
                    <a:pt x="41656" y="428625"/>
                  </a:lnTo>
                  <a:lnTo>
                    <a:pt x="5263769" y="428625"/>
                  </a:lnTo>
                  <a:lnTo>
                    <a:pt x="5279975" y="425348"/>
                  </a:lnTo>
                  <a:lnTo>
                    <a:pt x="5293217" y="416417"/>
                  </a:lnTo>
                  <a:lnTo>
                    <a:pt x="5302148" y="403175"/>
                  </a:lnTo>
                  <a:lnTo>
                    <a:pt x="5305425" y="386969"/>
                  </a:lnTo>
                  <a:lnTo>
                    <a:pt x="5305425" y="41656"/>
                  </a:lnTo>
                  <a:lnTo>
                    <a:pt x="5302148" y="25449"/>
                  </a:lnTo>
                  <a:lnTo>
                    <a:pt x="5293217" y="12207"/>
                  </a:lnTo>
                  <a:lnTo>
                    <a:pt x="5279975" y="3276"/>
                  </a:lnTo>
                  <a:lnTo>
                    <a:pt x="5263769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695896" y="1202372"/>
            <a:ext cx="5323840" cy="6290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14935">
              <a:lnSpc>
                <a:spcPct val="100000"/>
              </a:lnSpc>
              <a:spcBef>
                <a:spcPts val="100"/>
              </a:spcBef>
            </a:pPr>
            <a:r>
              <a:rPr dirty="0" sz="1650" spc="-430" b="1">
                <a:solidFill>
                  <a:srgbClr val="272424"/>
                </a:solidFill>
                <a:latin typeface="Tahoma"/>
                <a:cs typeface="Tahoma"/>
              </a:rPr>
              <a:t>1</a:t>
            </a:r>
            <a:endParaRPr sz="165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1550"/>
              </a:spcBef>
            </a:pPr>
            <a:r>
              <a:rPr dirty="0" sz="1550" spc="-35" b="1">
                <a:solidFill>
                  <a:srgbClr val="272424"/>
                </a:solidFill>
                <a:latin typeface="Tahoma"/>
                <a:cs typeface="Tahoma"/>
              </a:rPr>
              <a:t>SINGLE</a:t>
            </a:r>
            <a:r>
              <a:rPr dirty="0" sz="1550" spc="-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680"/>
              </a:lnSpc>
              <a:spcBef>
                <a:spcPts val="415"/>
              </a:spcBef>
              <a:buChar char="•"/>
              <a:tabLst>
                <a:tab pos="496570" algn="l"/>
              </a:tabLst>
            </a:pP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Only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r>
              <a:rPr dirty="0" sz="15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40" b="1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55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500"/>
              </a:lnSpc>
              <a:buChar char="•"/>
              <a:tabLst>
                <a:tab pos="496570" algn="l"/>
              </a:tabLst>
            </a:pPr>
            <a:r>
              <a:rPr dirty="0" sz="1550" spc="125">
                <a:solidFill>
                  <a:srgbClr val="272424"/>
                </a:solidFill>
                <a:latin typeface="Tahoma"/>
                <a:cs typeface="Tahoma"/>
              </a:rPr>
              <a:t>No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burst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involved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680"/>
              </a:lnSpc>
              <a:buChar char="•"/>
              <a:tabLst>
                <a:tab pos="496570" algn="l"/>
              </a:tabLst>
            </a:pPr>
            <a:r>
              <a:rPr dirty="0" sz="1550" spc="105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independent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Clr>
                <a:srgbClr val="272424"/>
              </a:buClr>
              <a:buFont typeface="Tahoma"/>
              <a:buChar char="•"/>
            </a:pPr>
            <a:endParaRPr sz="1550">
              <a:latin typeface="Tahoma"/>
              <a:cs typeface="Tahoma"/>
            </a:endParaRPr>
          </a:p>
          <a:p>
            <a:pPr algn="ctr" marR="72390">
              <a:lnSpc>
                <a:spcPct val="100000"/>
              </a:lnSpc>
              <a:spcBef>
                <a:spcPts val="5"/>
              </a:spcBef>
            </a:pPr>
            <a:r>
              <a:rPr dirty="0" sz="1650" spc="-50" b="1">
                <a:solidFill>
                  <a:srgbClr val="272424"/>
                </a:solidFill>
                <a:latin typeface="Tahoma"/>
                <a:cs typeface="Tahoma"/>
              </a:rPr>
              <a:t>2</a:t>
            </a:r>
            <a:endParaRPr sz="165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1545"/>
              </a:spcBef>
            </a:pPr>
            <a:r>
              <a:rPr dirty="0" sz="1550" spc="-70" b="1">
                <a:solidFill>
                  <a:srgbClr val="272424"/>
                </a:solidFill>
                <a:latin typeface="Tahoma"/>
                <a:cs typeface="Tahoma"/>
              </a:rPr>
              <a:t>INCR</a:t>
            </a:r>
            <a:r>
              <a:rPr dirty="0" sz="155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65" b="1">
                <a:solidFill>
                  <a:srgbClr val="272424"/>
                </a:solidFill>
                <a:latin typeface="Tahoma"/>
                <a:cs typeface="Tahoma"/>
              </a:rPr>
              <a:t>(Incrementing</a:t>
            </a:r>
            <a:r>
              <a:rPr dirty="0" sz="1550" spc="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Burst)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680"/>
              </a:lnSpc>
              <a:spcBef>
                <a:spcPts val="415"/>
              </a:spcBef>
              <a:buChar char="•"/>
              <a:tabLst>
                <a:tab pos="496570" algn="l"/>
              </a:tabLst>
            </a:pPr>
            <a:r>
              <a:rPr dirty="0" sz="1550" spc="120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55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272424"/>
                </a:solidFill>
                <a:latin typeface="Tahoma"/>
                <a:cs typeface="Tahoma"/>
              </a:rPr>
              <a:t>increments</a:t>
            </a:r>
            <a:r>
              <a:rPr dirty="0" sz="1550" spc="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272424"/>
                </a:solidFill>
                <a:latin typeface="Tahoma"/>
                <a:cs typeface="Tahoma"/>
              </a:rPr>
              <a:t>after</a:t>
            </a:r>
            <a:r>
              <a:rPr dirty="0" sz="1550" spc="-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550" spc="-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transfer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680"/>
              </a:lnSpc>
              <a:buChar char="•"/>
              <a:tabLst>
                <a:tab pos="496570" algn="l"/>
              </a:tabLst>
            </a:pP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Length</a:t>
            </a:r>
            <a:r>
              <a:rPr dirty="0" sz="15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be:</a:t>
            </a:r>
            <a:endParaRPr sz="1550">
              <a:latin typeface="Tahoma"/>
              <a:cs typeface="Tahoma"/>
            </a:endParaRPr>
          </a:p>
          <a:p>
            <a:pPr marL="550545">
              <a:lnSpc>
                <a:spcPct val="100000"/>
              </a:lnSpc>
              <a:spcBef>
                <a:spcPts val="735"/>
              </a:spcBef>
            </a:pP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Undefined </a:t>
            </a:r>
            <a:r>
              <a:rPr dirty="0" sz="1550" spc="-85" b="1">
                <a:solidFill>
                  <a:srgbClr val="272424"/>
                </a:solidFill>
                <a:latin typeface="Tahoma"/>
                <a:cs typeface="Tahoma"/>
              </a:rPr>
              <a:t>(INCR)</a:t>
            </a:r>
            <a:r>
              <a:rPr dirty="0" sz="155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→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continues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until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master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stops</a:t>
            </a:r>
            <a:endParaRPr sz="1550">
              <a:latin typeface="Tahoma"/>
              <a:cs typeface="Tahoma"/>
            </a:endParaRPr>
          </a:p>
          <a:p>
            <a:pPr marL="650875">
              <a:lnSpc>
                <a:spcPct val="100000"/>
              </a:lnSpc>
              <a:spcBef>
                <a:spcPts val="415"/>
              </a:spcBef>
            </a:pP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fixed</a:t>
            </a:r>
            <a:r>
              <a:rPr dirty="0" sz="1550" spc="-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35" b="1">
                <a:solidFill>
                  <a:srgbClr val="272424"/>
                </a:solidFill>
                <a:latin typeface="Tahoma"/>
                <a:cs typeface="Tahoma"/>
              </a:rPr>
              <a:t>length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(like</a:t>
            </a:r>
            <a:r>
              <a:rPr dirty="0" sz="155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INCR4,</a:t>
            </a:r>
            <a:r>
              <a:rPr dirty="0" sz="15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INCR8,</a:t>
            </a:r>
            <a:r>
              <a:rPr dirty="0" sz="15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INCR16)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ct val="100000"/>
              </a:lnSpc>
              <a:spcBef>
                <a:spcPts val="415"/>
              </a:spcBef>
              <a:buChar char="•"/>
              <a:tabLst>
                <a:tab pos="496570" algn="l"/>
              </a:tabLst>
            </a:pPr>
            <a:r>
              <a:rPr dirty="0" sz="1550" spc="140">
                <a:solidFill>
                  <a:srgbClr val="272424"/>
                </a:solidFill>
                <a:latin typeface="Tahoma"/>
                <a:cs typeface="Tahoma"/>
              </a:rPr>
              <a:t>Used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5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continuous</a:t>
            </a:r>
            <a:r>
              <a:rPr dirty="0" sz="155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30" b="1">
                <a:solidFill>
                  <a:srgbClr val="272424"/>
                </a:solidFill>
                <a:latin typeface="Tahoma"/>
                <a:cs typeface="Tahoma"/>
              </a:rPr>
              <a:t>memory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access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Clr>
                <a:srgbClr val="272424"/>
              </a:buClr>
              <a:buFont typeface="Tahoma"/>
              <a:buChar char="•"/>
            </a:pPr>
            <a:endParaRPr sz="1550">
              <a:latin typeface="Tahoma"/>
              <a:cs typeface="Tahoma"/>
            </a:endParaRPr>
          </a:p>
          <a:p>
            <a:pPr algn="ctr" marR="70485">
              <a:lnSpc>
                <a:spcPct val="100000"/>
              </a:lnSpc>
            </a:pPr>
            <a:r>
              <a:rPr dirty="0" sz="1650" spc="-50" b="1">
                <a:solidFill>
                  <a:srgbClr val="272424"/>
                </a:solidFill>
                <a:latin typeface="Tahoma"/>
                <a:cs typeface="Tahoma"/>
              </a:rPr>
              <a:t>3</a:t>
            </a:r>
            <a:endParaRPr sz="165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1550"/>
              </a:spcBef>
            </a:pPr>
            <a:r>
              <a:rPr dirty="0" sz="1550" b="1">
                <a:solidFill>
                  <a:srgbClr val="272424"/>
                </a:solidFill>
                <a:latin typeface="Tahoma"/>
                <a:cs typeface="Tahoma"/>
              </a:rPr>
              <a:t>WRAP</a:t>
            </a:r>
            <a:r>
              <a:rPr dirty="0" sz="1550" spc="-1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Burst</a:t>
            </a:r>
            <a:endParaRPr sz="1550">
              <a:latin typeface="Tahoma"/>
              <a:cs typeface="Tahoma"/>
            </a:endParaRPr>
          </a:p>
          <a:p>
            <a:pPr marL="496570" marR="901065" indent="-342900">
              <a:lnSpc>
                <a:spcPts val="1500"/>
              </a:lnSpc>
              <a:spcBef>
                <a:spcPts val="760"/>
              </a:spcBef>
              <a:buChar char="•"/>
              <a:tabLst>
                <a:tab pos="496570" algn="l"/>
              </a:tabLst>
            </a:pPr>
            <a:r>
              <a:rPr dirty="0" sz="1550" spc="120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increments</a:t>
            </a:r>
            <a:r>
              <a:rPr dirty="0" sz="15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but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wraps</a:t>
            </a:r>
            <a:r>
              <a:rPr dirty="0" sz="1550" spc="-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272424"/>
                </a:solidFill>
                <a:latin typeface="Tahoma"/>
                <a:cs typeface="Tahoma"/>
              </a:rPr>
              <a:t>around</a:t>
            </a:r>
            <a:r>
              <a:rPr dirty="0" sz="1550" spc="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at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boundary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335"/>
              </a:lnSpc>
              <a:buChar char="•"/>
              <a:tabLst>
                <a:tab pos="496570" algn="l"/>
              </a:tabLst>
            </a:pP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Fixed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sizes:</a:t>
            </a:r>
            <a:endParaRPr sz="1550">
              <a:latin typeface="Tahoma"/>
              <a:cs typeface="Tahoma"/>
            </a:endParaRPr>
          </a:p>
          <a:p>
            <a:pPr lvl="1" marL="839469" indent="-342900">
              <a:lnSpc>
                <a:spcPts val="1500"/>
              </a:lnSpc>
              <a:buChar char="◦"/>
              <a:tabLst>
                <a:tab pos="839469" algn="l"/>
              </a:tabLst>
            </a:pPr>
            <a:r>
              <a:rPr dirty="0" sz="1550" spc="120">
                <a:solidFill>
                  <a:srgbClr val="272424"/>
                </a:solidFill>
                <a:latin typeface="Tahoma"/>
                <a:cs typeface="Tahoma"/>
              </a:rPr>
              <a:t>WRAP4,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72424"/>
                </a:solidFill>
                <a:latin typeface="Tahoma"/>
                <a:cs typeface="Tahoma"/>
              </a:rPr>
              <a:t>WRAP8,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WRAP16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500"/>
              </a:lnSpc>
              <a:buChar char="•"/>
              <a:tabLst>
                <a:tab pos="496570" algn="l"/>
              </a:tabLst>
            </a:pPr>
            <a:r>
              <a:rPr dirty="0" sz="1550" spc="140">
                <a:solidFill>
                  <a:srgbClr val="272424"/>
                </a:solidFill>
                <a:latin typeface="Tahoma"/>
                <a:cs typeface="Tahoma"/>
              </a:rPr>
              <a:t>Used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in:</a:t>
            </a:r>
            <a:endParaRPr sz="1550">
              <a:latin typeface="Tahoma"/>
              <a:cs typeface="Tahoma"/>
            </a:endParaRPr>
          </a:p>
          <a:p>
            <a:pPr lvl="1" marL="839469" indent="-342900">
              <a:lnSpc>
                <a:spcPts val="1500"/>
              </a:lnSpc>
              <a:buChar char="◦"/>
              <a:tabLst>
                <a:tab pos="839469" algn="l"/>
              </a:tabLst>
            </a:pPr>
            <a:r>
              <a:rPr dirty="0" sz="1550" spc="145">
                <a:solidFill>
                  <a:srgbClr val="272424"/>
                </a:solidFill>
                <a:latin typeface="Tahoma"/>
                <a:cs typeface="Tahoma"/>
              </a:rPr>
              <a:t>Cache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line</a:t>
            </a:r>
            <a:r>
              <a:rPr dirty="0" sz="15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0">
                <a:solidFill>
                  <a:srgbClr val="272424"/>
                </a:solidFill>
                <a:latin typeface="Tahoma"/>
                <a:cs typeface="Tahoma"/>
              </a:rPr>
              <a:t>fills</a:t>
            </a:r>
            <a:endParaRPr sz="1550">
              <a:latin typeface="Tahoma"/>
              <a:cs typeface="Tahoma"/>
            </a:endParaRPr>
          </a:p>
          <a:p>
            <a:pPr marL="496570" indent="-342900">
              <a:lnSpc>
                <a:spcPts val="1680"/>
              </a:lnSpc>
              <a:buChar char="•"/>
              <a:tabLst>
                <a:tab pos="496570" algn="l"/>
              </a:tabLst>
            </a:pPr>
            <a:r>
              <a:rPr dirty="0" sz="1550" spc="120">
                <a:solidFill>
                  <a:srgbClr val="272424"/>
                </a:solidFill>
                <a:latin typeface="Tahoma"/>
                <a:cs typeface="Tahoma"/>
              </a:rPr>
              <a:t>Address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stays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fixed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 boundary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13" name="object 1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8435" y="1111436"/>
            <a:ext cx="6472257" cy="2483762"/>
          </a:xfrm>
          <a:prstGeom prst="rect">
            <a:avLst/>
          </a:prstGeom>
        </p:spPr>
      </p:pic>
      <p:pic>
        <p:nvPicPr>
          <p:cNvPr id="14" name="object 1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3971925"/>
            <a:ext cx="674370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684" y="1355089"/>
            <a:ext cx="8663305" cy="621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00" spc="-35"/>
              <a:t>AHB-</a:t>
            </a:r>
            <a:r>
              <a:rPr dirty="0" sz="3900" spc="-185"/>
              <a:t>Lite:</a:t>
            </a:r>
            <a:r>
              <a:rPr dirty="0" sz="3900" spc="-100"/>
              <a:t> </a:t>
            </a:r>
            <a:r>
              <a:rPr dirty="0" sz="3900"/>
              <a:t>A</a:t>
            </a:r>
            <a:r>
              <a:rPr dirty="0" sz="3900" spc="-35"/>
              <a:t> </a:t>
            </a:r>
            <a:r>
              <a:rPr dirty="0" sz="3900" spc="-155"/>
              <a:t>Simpler,</a:t>
            </a:r>
            <a:r>
              <a:rPr dirty="0" sz="3900" spc="-110"/>
              <a:t> Efficient</a:t>
            </a:r>
            <a:r>
              <a:rPr dirty="0" sz="3900" spc="-35"/>
              <a:t> </a:t>
            </a:r>
            <a:r>
              <a:rPr dirty="0" sz="3900" spc="-40"/>
              <a:t>Subset</a:t>
            </a:r>
            <a:endParaRPr sz="3900"/>
          </a:p>
        </p:txBody>
      </p:sp>
      <p:sp>
        <p:nvSpPr>
          <p:cNvPr id="3" name="object 3"/>
          <p:cNvSpPr/>
          <p:nvPr/>
        </p:nvSpPr>
        <p:spPr>
          <a:xfrm>
            <a:off x="647700" y="3267075"/>
            <a:ext cx="6572250" cy="3571875"/>
          </a:xfrm>
          <a:custGeom>
            <a:avLst/>
            <a:gdLst/>
            <a:ahLst/>
            <a:cxnLst/>
            <a:rect l="l" t="t" r="r" b="b"/>
            <a:pathLst>
              <a:path w="6572250" h="3571875">
                <a:moveTo>
                  <a:pt x="6428994" y="0"/>
                </a:moveTo>
                <a:lnTo>
                  <a:pt x="143192" y="0"/>
                </a:lnTo>
                <a:lnTo>
                  <a:pt x="97932" y="7303"/>
                </a:lnTo>
                <a:lnTo>
                  <a:pt x="58624" y="27639"/>
                </a:lnTo>
                <a:lnTo>
                  <a:pt x="27627" y="58649"/>
                </a:lnTo>
                <a:lnTo>
                  <a:pt x="7300" y="97974"/>
                </a:lnTo>
                <a:lnTo>
                  <a:pt x="0" y="143255"/>
                </a:lnTo>
                <a:lnTo>
                  <a:pt x="0" y="3428619"/>
                </a:lnTo>
                <a:lnTo>
                  <a:pt x="7300" y="3473900"/>
                </a:lnTo>
                <a:lnTo>
                  <a:pt x="27627" y="3513225"/>
                </a:lnTo>
                <a:lnTo>
                  <a:pt x="58624" y="3544235"/>
                </a:lnTo>
                <a:lnTo>
                  <a:pt x="97932" y="3564571"/>
                </a:lnTo>
                <a:lnTo>
                  <a:pt x="143192" y="3571875"/>
                </a:lnTo>
                <a:lnTo>
                  <a:pt x="6428994" y="3571875"/>
                </a:lnTo>
                <a:lnTo>
                  <a:pt x="6474275" y="3564571"/>
                </a:lnTo>
                <a:lnTo>
                  <a:pt x="6513600" y="3544235"/>
                </a:lnTo>
                <a:lnTo>
                  <a:pt x="6544610" y="3513225"/>
                </a:lnTo>
                <a:lnTo>
                  <a:pt x="6564946" y="3473900"/>
                </a:lnTo>
                <a:lnTo>
                  <a:pt x="6572250" y="3428619"/>
                </a:lnTo>
                <a:lnTo>
                  <a:pt x="6572250" y="143255"/>
                </a:lnTo>
                <a:lnTo>
                  <a:pt x="6564946" y="97974"/>
                </a:lnTo>
                <a:lnTo>
                  <a:pt x="6544610" y="58649"/>
                </a:lnTo>
                <a:lnTo>
                  <a:pt x="6513600" y="27639"/>
                </a:lnTo>
                <a:lnTo>
                  <a:pt x="6474275" y="7303"/>
                </a:lnTo>
                <a:lnTo>
                  <a:pt x="6428994" y="0"/>
                </a:lnTo>
                <a:close/>
              </a:path>
            </a:pathLst>
          </a:custGeom>
          <a:solidFill>
            <a:srgbClr val="F84B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37247" y="3932935"/>
            <a:ext cx="4477385" cy="160845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</a:tabLst>
            </a:pPr>
            <a:r>
              <a:rPr dirty="0" sz="1550" spc="60">
                <a:latin typeface="Tahoma"/>
                <a:cs typeface="Tahoma"/>
              </a:rPr>
              <a:t>Single</a:t>
            </a:r>
            <a:r>
              <a:rPr dirty="0" sz="1550" spc="-20">
                <a:latin typeface="Tahoma"/>
                <a:cs typeface="Tahoma"/>
              </a:rPr>
              <a:t> </a:t>
            </a:r>
            <a:r>
              <a:rPr dirty="0" sz="1550" spc="105">
                <a:latin typeface="Tahoma"/>
                <a:cs typeface="Tahoma"/>
              </a:rPr>
              <a:t>clock-</a:t>
            </a:r>
            <a:r>
              <a:rPr dirty="0" sz="1550" spc="75">
                <a:latin typeface="Tahoma"/>
                <a:cs typeface="Tahoma"/>
              </a:rPr>
              <a:t>edge</a:t>
            </a:r>
            <a:r>
              <a:rPr dirty="0" sz="1550" spc="-20">
                <a:latin typeface="Tahoma"/>
                <a:cs typeface="Tahoma"/>
              </a:rPr>
              <a:t> </a:t>
            </a:r>
            <a:r>
              <a:rPr dirty="0" sz="1550" spc="40">
                <a:latin typeface="Tahoma"/>
                <a:cs typeface="Tahoma"/>
              </a:rPr>
              <a:t>operation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dirty="0" sz="1550" spc="60">
                <a:latin typeface="Tahoma"/>
                <a:cs typeface="Tahoma"/>
              </a:rPr>
              <a:t>Pipelined</a:t>
            </a:r>
            <a:r>
              <a:rPr dirty="0" sz="1550" spc="15">
                <a:latin typeface="Tahoma"/>
                <a:cs typeface="Tahoma"/>
              </a:rPr>
              <a:t> </a:t>
            </a:r>
            <a:r>
              <a:rPr dirty="0" sz="1550" spc="55">
                <a:latin typeface="Tahoma"/>
                <a:cs typeface="Tahoma"/>
              </a:rPr>
              <a:t>address/data</a:t>
            </a:r>
            <a:r>
              <a:rPr dirty="0" sz="1550" spc="-60">
                <a:latin typeface="Tahoma"/>
                <a:cs typeface="Tahoma"/>
              </a:rPr>
              <a:t> </a:t>
            </a:r>
            <a:r>
              <a:rPr dirty="0" sz="1550" spc="80">
                <a:latin typeface="Tahoma"/>
                <a:cs typeface="Tahoma"/>
              </a:rPr>
              <a:t>phases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</a:tabLst>
            </a:pPr>
            <a:r>
              <a:rPr dirty="0" sz="1550" spc="50">
                <a:latin typeface="Tahoma"/>
                <a:cs typeface="Tahoma"/>
              </a:rPr>
              <a:t>Burst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 spc="50">
                <a:latin typeface="Tahoma"/>
                <a:cs typeface="Tahoma"/>
              </a:rPr>
              <a:t>transfer</a:t>
            </a:r>
            <a:r>
              <a:rPr dirty="0" sz="1550" spc="-20">
                <a:latin typeface="Tahoma"/>
                <a:cs typeface="Tahoma"/>
              </a:rPr>
              <a:t> </a:t>
            </a:r>
            <a:r>
              <a:rPr dirty="0" sz="1550" spc="45">
                <a:latin typeface="Tahoma"/>
                <a:cs typeface="Tahoma"/>
              </a:rPr>
              <a:t>support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dirty="0" sz="1550" spc="85">
                <a:latin typeface="Tahoma"/>
                <a:cs typeface="Tahoma"/>
              </a:rPr>
              <a:t>Same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55">
                <a:latin typeface="Tahoma"/>
                <a:cs typeface="Tahoma"/>
              </a:rPr>
              <a:t>signal</a:t>
            </a:r>
            <a:r>
              <a:rPr dirty="0" sz="1550" spc="10">
                <a:latin typeface="Tahoma"/>
                <a:cs typeface="Tahoma"/>
              </a:rPr>
              <a:t> </a:t>
            </a:r>
            <a:r>
              <a:rPr dirty="0" sz="1550" spc="55">
                <a:latin typeface="Tahoma"/>
                <a:cs typeface="Tahoma"/>
              </a:rPr>
              <a:t>naming</a:t>
            </a:r>
            <a:r>
              <a:rPr dirty="0" sz="1550" spc="30">
                <a:latin typeface="Tahoma"/>
                <a:cs typeface="Tahoma"/>
              </a:rPr>
              <a:t> </a:t>
            </a:r>
            <a:r>
              <a:rPr dirty="0" sz="1550" spc="70">
                <a:latin typeface="Tahoma"/>
                <a:cs typeface="Tahoma"/>
              </a:rPr>
              <a:t>and</a:t>
            </a:r>
            <a:r>
              <a:rPr dirty="0" sz="1550" spc="-5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timing</a:t>
            </a:r>
            <a:r>
              <a:rPr dirty="0" sz="1550" spc="30">
                <a:latin typeface="Tahoma"/>
                <a:cs typeface="Tahoma"/>
              </a:rPr>
              <a:t> </a:t>
            </a:r>
            <a:r>
              <a:rPr dirty="0" sz="1550" spc="45">
                <a:latin typeface="Tahoma"/>
                <a:cs typeface="Tahoma"/>
              </a:rPr>
              <a:t>model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dirty="0" sz="1550">
                <a:latin typeface="Tahoma"/>
                <a:cs typeface="Tahoma"/>
              </a:rPr>
              <a:t>Full</a:t>
            </a:r>
            <a:r>
              <a:rPr dirty="0" sz="1550" spc="10">
                <a:latin typeface="Tahoma"/>
                <a:cs typeface="Tahoma"/>
              </a:rPr>
              <a:t> </a:t>
            </a:r>
            <a:r>
              <a:rPr dirty="0" sz="1550" spc="80">
                <a:latin typeface="Tahoma"/>
                <a:cs typeface="Tahoma"/>
              </a:rPr>
              <a:t>backward</a:t>
            </a:r>
            <a:r>
              <a:rPr dirty="0" sz="1550" spc="30">
                <a:latin typeface="Tahoma"/>
                <a:cs typeface="Tahoma"/>
              </a:rPr>
              <a:t> </a:t>
            </a:r>
            <a:r>
              <a:rPr dirty="0" sz="1550" spc="50">
                <a:latin typeface="Tahoma"/>
                <a:cs typeface="Tahoma"/>
              </a:rPr>
              <a:t>compatibility</a:t>
            </a:r>
            <a:r>
              <a:rPr dirty="0" sz="1550" spc="-50">
                <a:latin typeface="Tahoma"/>
                <a:cs typeface="Tahoma"/>
              </a:rPr>
              <a:t> </a:t>
            </a:r>
            <a:r>
              <a:rPr dirty="0" sz="1550" spc="50">
                <a:latin typeface="Tahoma"/>
                <a:cs typeface="Tahoma"/>
              </a:rPr>
              <a:t>with</a:t>
            </a:r>
            <a:r>
              <a:rPr dirty="0" sz="1550" spc="-20">
                <a:latin typeface="Tahoma"/>
                <a:cs typeface="Tahoma"/>
              </a:rPr>
              <a:t> </a:t>
            </a:r>
            <a:r>
              <a:rPr dirty="0" sz="1550" spc="100">
                <a:latin typeface="Tahoma"/>
                <a:cs typeface="Tahoma"/>
              </a:rPr>
              <a:t>AHB</a:t>
            </a:r>
            <a:r>
              <a:rPr dirty="0" sz="1550" spc="40">
                <a:latin typeface="Tahoma"/>
                <a:cs typeface="Tahoma"/>
              </a:rPr>
              <a:t> </a:t>
            </a:r>
            <a:r>
              <a:rPr dirty="0" sz="1550" spc="75">
                <a:latin typeface="Tahoma"/>
                <a:cs typeface="Tahoma"/>
              </a:rPr>
              <a:t>slaves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684" y="2365819"/>
            <a:ext cx="12840335" cy="1398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0"/>
              </a:spcBef>
            </a:pP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Not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every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design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needs</a:t>
            </a:r>
            <a:r>
              <a:rPr dirty="0" sz="155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full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complexity</a:t>
            </a:r>
            <a:r>
              <a:rPr dirty="0" sz="15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AHB.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55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simpler</a:t>
            </a:r>
            <a:r>
              <a:rPr dirty="0" sz="15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embedded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single-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master</a:t>
            </a:r>
            <a:r>
              <a:rPr dirty="0" sz="155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configurations,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microcontrollers,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cost-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sensitive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ASICs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35">
                <a:solidFill>
                  <a:srgbClr val="272424"/>
                </a:solidFill>
                <a:latin typeface="Tahoma"/>
                <a:cs typeface="Tahoma"/>
              </a:rPr>
              <a:t>ARM</a:t>
            </a:r>
            <a:r>
              <a:rPr dirty="0" sz="155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introduced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AHB-</a:t>
            </a:r>
            <a:r>
              <a:rPr dirty="0" sz="1550" spc="-65" b="1">
                <a:solidFill>
                  <a:srgbClr val="272424"/>
                </a:solidFill>
                <a:latin typeface="Tahoma"/>
                <a:cs typeface="Tahoma"/>
              </a:rPr>
              <a:t>Lite</a:t>
            </a:r>
            <a:r>
              <a:rPr dirty="0" sz="1550" spc="-65">
                <a:solidFill>
                  <a:srgbClr val="272424"/>
                </a:solidFill>
                <a:latin typeface="Tahoma"/>
                <a:cs typeface="Tahoma"/>
              </a:rPr>
              <a:t>,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streamlined</a:t>
            </a:r>
            <a:r>
              <a:rPr dirty="0" sz="155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subset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that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retains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protocol's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core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272424"/>
                </a:solidFill>
                <a:latin typeface="Tahoma"/>
                <a:cs typeface="Tahoma"/>
              </a:rPr>
              <a:t>strengths.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550">
              <a:latin typeface="Tahoma"/>
              <a:cs typeface="Tahoma"/>
            </a:endParaRPr>
          </a:p>
          <a:p>
            <a:pPr marL="67945">
              <a:lnSpc>
                <a:spcPct val="100000"/>
              </a:lnSpc>
              <a:tabLst>
                <a:tab pos="6787515" algn="l"/>
              </a:tabLst>
            </a:pPr>
            <a:r>
              <a:rPr dirty="0" sz="1950" spc="-95" b="1">
                <a:latin typeface="Tahoma"/>
                <a:cs typeface="Tahoma"/>
              </a:rPr>
              <a:t>What</a:t>
            </a:r>
            <a:r>
              <a:rPr dirty="0" sz="1950" spc="-20" b="1">
                <a:latin typeface="Tahoma"/>
                <a:cs typeface="Tahoma"/>
              </a:rPr>
              <a:t> </a:t>
            </a:r>
            <a:r>
              <a:rPr dirty="0" sz="1950" spc="-25" b="1">
                <a:latin typeface="Tahoma"/>
                <a:cs typeface="Tahoma"/>
              </a:rPr>
              <a:t>AHB-</a:t>
            </a:r>
            <a:r>
              <a:rPr dirty="0" sz="1950" spc="-80" b="1">
                <a:latin typeface="Tahoma"/>
                <a:cs typeface="Tahoma"/>
              </a:rPr>
              <a:t>Lite</a:t>
            </a:r>
            <a:r>
              <a:rPr dirty="0" sz="1950" spc="-60" b="1">
                <a:latin typeface="Tahoma"/>
                <a:cs typeface="Tahoma"/>
              </a:rPr>
              <a:t> </a:t>
            </a:r>
            <a:r>
              <a:rPr dirty="0" sz="1950" spc="-20" b="1">
                <a:latin typeface="Tahoma"/>
                <a:cs typeface="Tahoma"/>
              </a:rPr>
              <a:t>Keeps</a:t>
            </a:r>
            <a:r>
              <a:rPr dirty="0" sz="1950" b="1">
                <a:latin typeface="Tahoma"/>
                <a:cs typeface="Tahoma"/>
              </a:rPr>
              <a:t>	</a:t>
            </a:r>
            <a:r>
              <a:rPr dirty="0" sz="1950" spc="-95" b="1">
                <a:latin typeface="Tahoma"/>
                <a:cs typeface="Tahoma"/>
              </a:rPr>
              <a:t>What</a:t>
            </a:r>
            <a:r>
              <a:rPr dirty="0" sz="1950" spc="-20" b="1">
                <a:latin typeface="Tahoma"/>
                <a:cs typeface="Tahoma"/>
              </a:rPr>
              <a:t> </a:t>
            </a:r>
            <a:r>
              <a:rPr dirty="0" sz="1950" spc="-25" b="1">
                <a:latin typeface="Tahoma"/>
                <a:cs typeface="Tahoma"/>
              </a:rPr>
              <a:t>AHB-</a:t>
            </a:r>
            <a:r>
              <a:rPr dirty="0" sz="1950" spc="-80" b="1">
                <a:latin typeface="Tahoma"/>
                <a:cs typeface="Tahoma"/>
              </a:rPr>
              <a:t>Lite</a:t>
            </a:r>
            <a:r>
              <a:rPr dirty="0" sz="1950" spc="-60" b="1">
                <a:latin typeface="Tahoma"/>
                <a:cs typeface="Tahoma"/>
              </a:rPr>
              <a:t> </a:t>
            </a:r>
            <a:r>
              <a:rPr dirty="0" sz="1950" spc="-10" b="1">
                <a:latin typeface="Tahoma"/>
                <a:cs typeface="Tahoma"/>
              </a:rPr>
              <a:t>Removes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7134" y="3932935"/>
            <a:ext cx="3841115" cy="160845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</a:tabLst>
            </a:pP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Multi-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master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arbitration</a:t>
            </a:r>
            <a:r>
              <a:rPr dirty="0" sz="1550" spc="1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logic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Split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transaction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support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</a:tabLst>
            </a:pPr>
            <a:r>
              <a:rPr dirty="0" sz="1550" spc="135">
                <a:solidFill>
                  <a:srgbClr val="272424"/>
                </a:solidFill>
                <a:latin typeface="Tahoma"/>
                <a:cs typeface="Tahoma"/>
              </a:rPr>
              <a:t>LOCK</a:t>
            </a:r>
            <a:r>
              <a:rPr dirty="0" sz="1550" spc="-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signal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(atomic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access)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Burst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type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wrap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mode</a:t>
            </a:r>
            <a:endParaRPr sz="15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Some</a:t>
            </a:r>
            <a:r>
              <a:rPr dirty="0" sz="15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optional</a:t>
            </a:r>
            <a:r>
              <a:rPr dirty="0" sz="15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error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response</a:t>
            </a:r>
            <a:r>
              <a:rPr dirty="0" sz="15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signals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57134" y="5979721"/>
            <a:ext cx="6222365" cy="65468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result:</a:t>
            </a:r>
            <a:r>
              <a:rPr dirty="0" sz="15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75" b="1">
                <a:solidFill>
                  <a:srgbClr val="272424"/>
                </a:solidFill>
                <a:latin typeface="Tahoma"/>
                <a:cs typeface="Tahoma"/>
              </a:rPr>
              <a:t>lighter,</a:t>
            </a:r>
            <a:r>
              <a:rPr dirty="0" sz="155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35" b="1">
                <a:solidFill>
                  <a:srgbClr val="272424"/>
                </a:solidFill>
                <a:latin typeface="Tahoma"/>
                <a:cs typeface="Tahoma"/>
              </a:rPr>
              <a:t>easier-</a:t>
            </a:r>
            <a:r>
              <a:rPr dirty="0" sz="1550" spc="-55" b="1">
                <a:solidFill>
                  <a:srgbClr val="272424"/>
                </a:solidFill>
                <a:latin typeface="Tahoma"/>
                <a:cs typeface="Tahoma"/>
              </a:rPr>
              <a:t>to-</a:t>
            </a:r>
            <a:r>
              <a:rPr dirty="0" sz="1550" spc="-75" b="1">
                <a:solidFill>
                  <a:srgbClr val="272424"/>
                </a:solidFill>
                <a:latin typeface="Tahoma"/>
                <a:cs typeface="Tahoma"/>
              </a:rPr>
              <a:t>integrate</a:t>
            </a:r>
            <a:r>
              <a:rPr dirty="0" sz="1550" spc="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bus</a:t>
            </a:r>
            <a:r>
              <a:rPr dirty="0" sz="15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still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delivers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10">
                <a:solidFill>
                  <a:srgbClr val="272424"/>
                </a:solidFill>
                <a:latin typeface="Tahoma"/>
                <a:cs typeface="Tahoma"/>
              </a:rPr>
              <a:t>AHB-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550" spc="95">
                <a:solidFill>
                  <a:srgbClr val="272424"/>
                </a:solidFill>
                <a:latin typeface="Tahoma"/>
                <a:cs typeface="Tahoma"/>
              </a:rPr>
              <a:t>class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performance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single-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master</a:t>
            </a:r>
            <a:r>
              <a:rPr dirty="0" sz="1550" spc="-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designs.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0"/>
            <a:ext cx="5486400" cy="8229600"/>
            <a:chOff x="9144000" y="0"/>
            <a:chExt cx="5486400" cy="8229600"/>
          </a:xfrm>
        </p:grpSpPr>
        <p:sp>
          <p:nvSpPr>
            <p:cNvPr id="3" name="object 3"/>
            <p:cNvSpPr/>
            <p:nvPr/>
          </p:nvSpPr>
          <p:spPr>
            <a:xfrm>
              <a:off x="9144000" y="0"/>
              <a:ext cx="5486400" cy="8229600"/>
            </a:xfrm>
            <a:custGeom>
              <a:avLst/>
              <a:gdLst/>
              <a:ahLst/>
              <a:cxnLst/>
              <a:rect l="l" t="t" r="r" b="b"/>
              <a:pathLst>
                <a:path w="5486400" h="8229600">
                  <a:moveTo>
                    <a:pt x="5486400" y="0"/>
                  </a:moveTo>
                  <a:lnTo>
                    <a:pt x="0" y="0"/>
                  </a:lnTo>
                  <a:lnTo>
                    <a:pt x="0" y="8229600"/>
                  </a:lnTo>
                  <a:lnTo>
                    <a:pt x="5486400" y="822960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0200" y="114298"/>
              <a:ext cx="5334000" cy="800099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08012" y="391731"/>
            <a:ext cx="6958330" cy="4946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50"/>
              <a:t>AHB's</a:t>
            </a:r>
            <a:r>
              <a:rPr dirty="0" sz="3050" spc="-180"/>
              <a:t> </a:t>
            </a:r>
            <a:r>
              <a:rPr dirty="0" sz="3050" spc="-220"/>
              <a:t>Impact:</a:t>
            </a:r>
            <a:r>
              <a:rPr dirty="0" sz="3050" spc="-60"/>
              <a:t> </a:t>
            </a:r>
            <a:r>
              <a:rPr dirty="0" sz="3050"/>
              <a:t>The</a:t>
            </a:r>
            <a:r>
              <a:rPr dirty="0" sz="3050" spc="-130"/>
              <a:t> </a:t>
            </a:r>
            <a:r>
              <a:rPr dirty="0" sz="3050" spc="-30"/>
              <a:t>De</a:t>
            </a:r>
            <a:r>
              <a:rPr dirty="0" sz="3050" spc="-130"/>
              <a:t> </a:t>
            </a:r>
            <a:r>
              <a:rPr dirty="0" sz="3050" spc="-30"/>
              <a:t>Facto</a:t>
            </a:r>
            <a:r>
              <a:rPr dirty="0" sz="3050" spc="-110"/>
              <a:t> </a:t>
            </a:r>
            <a:r>
              <a:rPr dirty="0" sz="3050" spc="-80"/>
              <a:t>Standard</a:t>
            </a:r>
            <a:endParaRPr sz="3050"/>
          </a:p>
        </p:txBody>
      </p:sp>
      <p:sp>
        <p:nvSpPr>
          <p:cNvPr id="6" name="object 6"/>
          <p:cNvSpPr txBox="1"/>
          <p:nvPr/>
        </p:nvSpPr>
        <p:spPr>
          <a:xfrm>
            <a:off x="608012" y="1060386"/>
            <a:ext cx="7444740" cy="6730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135"/>
              </a:spcBef>
            </a:pPr>
            <a:r>
              <a:rPr dirty="0" sz="1200" spc="80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20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didn't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just</a:t>
            </a:r>
            <a:r>
              <a:rPr dirty="0" sz="1200" spc="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272424"/>
                </a:solidFill>
                <a:latin typeface="Tahoma"/>
                <a:cs typeface="Tahoma"/>
              </a:rPr>
              <a:t>become</a:t>
            </a:r>
            <a:r>
              <a:rPr dirty="0" sz="1200" spc="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popular</a:t>
            </a:r>
            <a:r>
              <a:rPr dirty="0" sz="1200" spc="1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10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20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200" spc="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became</a:t>
            </a:r>
            <a:r>
              <a:rPr dirty="0" sz="120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272424"/>
                </a:solidFill>
                <a:latin typeface="Tahoma"/>
                <a:cs typeface="Tahoma"/>
              </a:rPr>
              <a:t>ubiquitous</a:t>
            </a:r>
            <a:r>
              <a:rPr dirty="0" sz="1200" spc="-5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20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200" spc="1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272424"/>
                </a:solidFill>
                <a:latin typeface="Tahoma"/>
                <a:cs typeface="Tahoma"/>
              </a:rPr>
              <a:t>low-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power</a:t>
            </a:r>
            <a:r>
              <a:rPr dirty="0" sz="1200" spc="1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microcontrollers</a:t>
            </a:r>
            <a:r>
              <a:rPr dirty="0" sz="1200" spc="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20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high-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end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application</a:t>
            </a:r>
            <a:r>
              <a:rPr dirty="0" sz="120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72424"/>
                </a:solidFill>
                <a:latin typeface="Tahoma"/>
                <a:cs typeface="Tahoma"/>
              </a:rPr>
              <a:t>processors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smartphones,</a:t>
            </a:r>
            <a:r>
              <a:rPr dirty="0" sz="12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80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20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its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75">
                <a:solidFill>
                  <a:srgbClr val="272424"/>
                </a:solidFill>
                <a:latin typeface="Tahoma"/>
                <a:cs typeface="Tahoma"/>
              </a:rPr>
              <a:t>successors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define</a:t>
            </a:r>
            <a:r>
              <a:rPr dirty="0" sz="12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272424"/>
                </a:solidFill>
                <a:latin typeface="Tahoma"/>
                <a:cs typeface="Tahoma"/>
              </a:rPr>
              <a:t>on-</a:t>
            </a:r>
            <a:r>
              <a:rPr dirty="0" sz="1200" spc="65">
                <a:solidFill>
                  <a:srgbClr val="272424"/>
                </a:solidFill>
                <a:latin typeface="Tahoma"/>
                <a:cs typeface="Tahoma"/>
              </a:rPr>
              <a:t>chip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components 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communicate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272424"/>
                </a:solidFill>
                <a:latin typeface="Tahoma"/>
                <a:cs typeface="Tahoma"/>
              </a:rPr>
              <a:t>across</a:t>
            </a:r>
            <a:r>
              <a:rPr dirty="0" sz="120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entire</a:t>
            </a:r>
            <a:r>
              <a:rPr dirty="0" sz="120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embedded</a:t>
            </a:r>
            <a:r>
              <a:rPr dirty="0" sz="12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72424"/>
                </a:solidFill>
                <a:latin typeface="Tahoma"/>
                <a:cs typeface="Tahoma"/>
              </a:rPr>
              <a:t>spectrum.</a:t>
            </a:r>
            <a:endParaRPr sz="1200">
              <a:latin typeface="Tahoma"/>
              <a:cs typeface="Tahoma"/>
            </a:endParaRPr>
          </a:p>
          <a:p>
            <a:pPr algn="ctr" marL="485140">
              <a:lnSpc>
                <a:spcPct val="100000"/>
              </a:lnSpc>
              <a:spcBef>
                <a:spcPts val="1065"/>
              </a:spcBef>
            </a:pPr>
            <a:r>
              <a:rPr dirty="0" sz="3950" spc="-280" b="1">
                <a:solidFill>
                  <a:srgbClr val="272424"/>
                </a:solidFill>
                <a:latin typeface="Tahoma"/>
                <a:cs typeface="Tahoma"/>
              </a:rPr>
              <a:t>1999</a:t>
            </a:r>
            <a:endParaRPr sz="3950">
              <a:latin typeface="Tahoma"/>
              <a:cs typeface="Tahoma"/>
            </a:endParaRPr>
          </a:p>
          <a:p>
            <a:pPr algn="ctr" marL="483870">
              <a:lnSpc>
                <a:spcPct val="100000"/>
              </a:lnSpc>
              <a:spcBef>
                <a:spcPts val="1495"/>
              </a:spcBef>
            </a:pPr>
            <a:r>
              <a:rPr dirty="0" sz="1500" spc="-20" b="1">
                <a:solidFill>
                  <a:srgbClr val="272424"/>
                </a:solidFill>
                <a:latin typeface="Tahoma"/>
                <a:cs typeface="Tahoma"/>
              </a:rPr>
              <a:t>Year</a:t>
            </a:r>
            <a:r>
              <a:rPr dirty="0" sz="1500" spc="-8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72424"/>
                </a:solidFill>
                <a:latin typeface="Tahoma"/>
                <a:cs typeface="Tahoma"/>
              </a:rPr>
              <a:t>Introduced</a:t>
            </a:r>
            <a:endParaRPr sz="1500">
              <a:latin typeface="Tahoma"/>
              <a:cs typeface="Tahoma"/>
            </a:endParaRPr>
          </a:p>
          <a:p>
            <a:pPr algn="ctr" marL="493395">
              <a:lnSpc>
                <a:spcPct val="100000"/>
              </a:lnSpc>
              <a:spcBef>
                <a:spcPts val="830"/>
              </a:spcBef>
            </a:pPr>
            <a:r>
              <a:rPr dirty="0" sz="1200" spc="85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2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debuted</a:t>
            </a:r>
            <a:r>
              <a:rPr dirty="0" sz="12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20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two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80">
                <a:solidFill>
                  <a:srgbClr val="272424"/>
                </a:solidFill>
                <a:latin typeface="Tahoma"/>
                <a:cs typeface="Tahoma"/>
              </a:rPr>
              <a:t>decades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ago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200" spc="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remains</a:t>
            </a:r>
            <a:r>
              <a:rPr dirty="0" sz="12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relevant</a:t>
            </a:r>
            <a:r>
              <a:rPr dirty="0" sz="120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2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modern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110">
                <a:solidFill>
                  <a:srgbClr val="272424"/>
                </a:solidFill>
                <a:latin typeface="Tahoma"/>
                <a:cs typeface="Tahoma"/>
              </a:rPr>
              <a:t>SoC</a:t>
            </a:r>
            <a:r>
              <a:rPr dirty="0" sz="12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designs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72424"/>
                </a:solidFill>
                <a:latin typeface="Tahoma"/>
                <a:cs typeface="Tahoma"/>
              </a:rPr>
              <a:t>today.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200">
              <a:latin typeface="Tahoma"/>
              <a:cs typeface="Tahoma"/>
            </a:endParaRPr>
          </a:p>
          <a:p>
            <a:pPr algn="ctr" marL="483870">
              <a:lnSpc>
                <a:spcPct val="100000"/>
              </a:lnSpc>
              <a:spcBef>
                <a:spcPts val="5"/>
              </a:spcBef>
            </a:pPr>
            <a:r>
              <a:rPr dirty="0" sz="3950" spc="-325" b="1">
                <a:solidFill>
                  <a:srgbClr val="272424"/>
                </a:solidFill>
                <a:latin typeface="Tahoma"/>
                <a:cs typeface="Tahoma"/>
              </a:rPr>
              <a:t>25+</a:t>
            </a:r>
            <a:endParaRPr sz="3950">
              <a:latin typeface="Tahoma"/>
              <a:cs typeface="Tahoma"/>
            </a:endParaRPr>
          </a:p>
          <a:p>
            <a:pPr algn="ctr" marL="487045">
              <a:lnSpc>
                <a:spcPct val="100000"/>
              </a:lnSpc>
              <a:spcBef>
                <a:spcPts val="1490"/>
              </a:spcBef>
            </a:pPr>
            <a:r>
              <a:rPr dirty="0" sz="1500" spc="-25" b="1">
                <a:solidFill>
                  <a:srgbClr val="272424"/>
                </a:solidFill>
                <a:latin typeface="Tahoma"/>
                <a:cs typeface="Tahoma"/>
              </a:rPr>
              <a:t>Years</a:t>
            </a:r>
            <a:r>
              <a:rPr dirty="0" sz="1500" spc="-8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500" spc="-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72424"/>
                </a:solidFill>
                <a:latin typeface="Tahoma"/>
                <a:cs typeface="Tahoma"/>
              </a:rPr>
              <a:t>Adoption</a:t>
            </a:r>
            <a:endParaRPr sz="1500">
              <a:latin typeface="Tahoma"/>
              <a:cs typeface="Tahoma"/>
            </a:endParaRPr>
          </a:p>
          <a:p>
            <a:pPr algn="ctr" marL="480695">
              <a:lnSpc>
                <a:spcPct val="100000"/>
              </a:lnSpc>
              <a:spcBef>
                <a:spcPts val="830"/>
              </a:spcBef>
            </a:pPr>
            <a:r>
              <a:rPr dirty="0" sz="1200" spc="10">
                <a:solidFill>
                  <a:srgbClr val="272424"/>
                </a:solidFill>
                <a:latin typeface="Tahoma"/>
                <a:cs typeface="Tahoma"/>
              </a:rPr>
              <a:t>Quarter-century</a:t>
            </a:r>
            <a:r>
              <a:rPr dirty="0" sz="12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continuous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use </a:t>
            </a:r>
            <a:r>
              <a:rPr dirty="0" sz="1200" spc="65">
                <a:solidFill>
                  <a:srgbClr val="272424"/>
                </a:solidFill>
                <a:latin typeface="Tahoma"/>
                <a:cs typeface="Tahoma"/>
              </a:rPr>
              <a:t>across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72424"/>
                </a:solidFill>
                <a:latin typeface="Tahoma"/>
                <a:cs typeface="Tahoma"/>
              </a:rPr>
              <a:t>billions</a:t>
            </a:r>
            <a:r>
              <a:rPr dirty="0" sz="12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20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shipped</a:t>
            </a:r>
            <a:r>
              <a:rPr dirty="0" sz="120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devices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72424"/>
                </a:solidFill>
                <a:latin typeface="Tahoma"/>
                <a:cs typeface="Tahoma"/>
              </a:rPr>
              <a:t>worldwide.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200">
              <a:latin typeface="Tahoma"/>
              <a:cs typeface="Tahoma"/>
            </a:endParaRPr>
          </a:p>
          <a:p>
            <a:pPr algn="ctr" marL="487045">
              <a:lnSpc>
                <a:spcPct val="100000"/>
              </a:lnSpc>
            </a:pPr>
            <a:r>
              <a:rPr dirty="0" sz="3950" spc="-50" b="1">
                <a:solidFill>
                  <a:srgbClr val="272424"/>
                </a:solidFill>
                <a:latin typeface="Tahoma"/>
                <a:cs typeface="Tahoma"/>
              </a:rPr>
              <a:t>0</a:t>
            </a:r>
            <a:endParaRPr sz="3950">
              <a:latin typeface="Tahoma"/>
              <a:cs typeface="Tahoma"/>
            </a:endParaRPr>
          </a:p>
          <a:p>
            <a:pPr algn="ctr" marL="488950">
              <a:lnSpc>
                <a:spcPct val="100000"/>
              </a:lnSpc>
              <a:spcBef>
                <a:spcPts val="1495"/>
              </a:spcBef>
            </a:pPr>
            <a:r>
              <a:rPr dirty="0" sz="1500" spc="-75" b="1">
                <a:solidFill>
                  <a:srgbClr val="272424"/>
                </a:solidFill>
                <a:latin typeface="Tahoma"/>
                <a:cs typeface="Tahoma"/>
              </a:rPr>
              <a:t>Royalty</a:t>
            </a:r>
            <a:r>
              <a:rPr dirty="0" sz="1500" spc="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00" spc="-20" b="1">
                <a:solidFill>
                  <a:srgbClr val="272424"/>
                </a:solidFill>
                <a:latin typeface="Tahoma"/>
                <a:cs typeface="Tahoma"/>
              </a:rPr>
              <a:t>Cost</a:t>
            </a:r>
            <a:endParaRPr sz="1500">
              <a:latin typeface="Tahoma"/>
              <a:cs typeface="Tahoma"/>
            </a:endParaRPr>
          </a:p>
          <a:p>
            <a:pPr algn="ctr" marL="484505">
              <a:lnSpc>
                <a:spcPct val="100000"/>
              </a:lnSpc>
              <a:spcBef>
                <a:spcPts val="835"/>
              </a:spcBef>
            </a:pPr>
            <a:r>
              <a:rPr dirty="0" sz="1200" spc="100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z="120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specifications</a:t>
            </a:r>
            <a:r>
              <a:rPr dirty="0" sz="12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72424"/>
                </a:solidFill>
                <a:latin typeface="Tahoma"/>
                <a:cs typeface="Tahoma"/>
              </a:rPr>
              <a:t>royalty-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free,</a:t>
            </a:r>
            <a:r>
              <a:rPr dirty="0" sz="12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accelerating</a:t>
            </a:r>
            <a:r>
              <a:rPr dirty="0" sz="120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adoption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2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272424"/>
                </a:solidFill>
                <a:latin typeface="Tahoma"/>
                <a:cs typeface="Tahoma"/>
              </a:rPr>
              <a:t>ecosystem</a:t>
            </a:r>
            <a:r>
              <a:rPr dirty="0" sz="120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72424"/>
                </a:solidFill>
                <a:latin typeface="Tahoma"/>
                <a:cs typeface="Tahoma"/>
              </a:rPr>
              <a:t>growth.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>
              <a:latin typeface="Tahoma"/>
              <a:cs typeface="Tahoma"/>
            </a:endParaRPr>
          </a:p>
          <a:p>
            <a:pPr algn="ctr" marL="488315">
              <a:lnSpc>
                <a:spcPct val="100000"/>
              </a:lnSpc>
              <a:spcBef>
                <a:spcPts val="5"/>
              </a:spcBef>
            </a:pPr>
            <a:r>
              <a:rPr dirty="0" sz="3950" spc="-10" b="1">
                <a:solidFill>
                  <a:srgbClr val="272424"/>
                </a:solidFill>
                <a:latin typeface="Tahoma"/>
                <a:cs typeface="Tahoma"/>
              </a:rPr>
              <a:t>1000s</a:t>
            </a:r>
            <a:endParaRPr sz="3950">
              <a:latin typeface="Tahoma"/>
              <a:cs typeface="Tahoma"/>
            </a:endParaRPr>
          </a:p>
          <a:p>
            <a:pPr algn="ctr" marL="489584">
              <a:lnSpc>
                <a:spcPct val="100000"/>
              </a:lnSpc>
              <a:spcBef>
                <a:spcPts val="1490"/>
              </a:spcBef>
            </a:pPr>
            <a:r>
              <a:rPr dirty="0" sz="1500" b="1">
                <a:solidFill>
                  <a:srgbClr val="272424"/>
                </a:solidFill>
                <a:latin typeface="Tahoma"/>
                <a:cs typeface="Tahoma"/>
              </a:rPr>
              <a:t>SoC</a:t>
            </a:r>
            <a:r>
              <a:rPr dirty="0" sz="1500" spc="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72424"/>
                </a:solidFill>
                <a:latin typeface="Tahoma"/>
                <a:cs typeface="Tahoma"/>
              </a:rPr>
              <a:t>Designs</a:t>
            </a:r>
            <a:endParaRPr sz="1500">
              <a:latin typeface="Tahoma"/>
              <a:cs typeface="Tahoma"/>
            </a:endParaRPr>
          </a:p>
          <a:p>
            <a:pPr algn="ctr" marL="476250">
              <a:lnSpc>
                <a:spcPct val="100000"/>
              </a:lnSpc>
              <a:spcBef>
                <a:spcPts val="835"/>
              </a:spcBef>
            </a:pPr>
            <a:r>
              <a:rPr dirty="0" sz="1200" spc="80">
                <a:solidFill>
                  <a:srgbClr val="272424"/>
                </a:solidFill>
                <a:latin typeface="Tahoma"/>
                <a:cs typeface="Tahoma"/>
              </a:rPr>
              <a:t>Used</a:t>
            </a:r>
            <a:r>
              <a:rPr dirty="0" sz="120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20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72424"/>
                </a:solidFill>
                <a:latin typeface="Tahoma"/>
                <a:cs typeface="Tahoma"/>
              </a:rPr>
              <a:t>ASICs</a:t>
            </a:r>
            <a:r>
              <a:rPr dirty="0" sz="1200" spc="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20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105">
                <a:solidFill>
                  <a:srgbClr val="272424"/>
                </a:solidFill>
                <a:latin typeface="Tahoma"/>
                <a:cs typeface="Tahoma"/>
              </a:rPr>
              <a:t>SoCs</a:t>
            </a:r>
            <a:r>
              <a:rPr dirty="0" sz="120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spanning</a:t>
            </a:r>
            <a:r>
              <a:rPr dirty="0" sz="1200" spc="1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microcontrollers,</a:t>
            </a:r>
            <a:r>
              <a:rPr dirty="0" sz="1200" spc="1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automotive,</a:t>
            </a:r>
            <a:r>
              <a:rPr dirty="0" sz="1200" spc="1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IoT,</a:t>
            </a:r>
            <a:r>
              <a:rPr dirty="0" sz="120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20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72424"/>
                </a:solidFill>
                <a:latin typeface="Tahoma"/>
                <a:cs typeface="Tahoma"/>
              </a:rPr>
              <a:t>mobile</a:t>
            </a:r>
            <a:r>
              <a:rPr dirty="0" sz="1200" spc="1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72424"/>
                </a:solidFill>
                <a:latin typeface="Tahoma"/>
                <a:cs typeface="Tahoma"/>
              </a:rPr>
              <a:t>processors.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684" y="833373"/>
            <a:ext cx="10185400" cy="621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00"/>
              <a:t>AMBA</a:t>
            </a:r>
            <a:r>
              <a:rPr dirty="0" sz="3900" spc="-245"/>
              <a:t> </a:t>
            </a:r>
            <a:r>
              <a:rPr dirty="0" sz="3900" spc="-70"/>
              <a:t>AHB:</a:t>
            </a:r>
            <a:r>
              <a:rPr dirty="0" sz="3900" spc="-100"/>
              <a:t> </a:t>
            </a:r>
            <a:r>
              <a:rPr dirty="0" sz="3900" spc="-165"/>
              <a:t>Enabling</a:t>
            </a:r>
            <a:r>
              <a:rPr dirty="0" sz="3900" spc="-120"/>
              <a:t> </a:t>
            </a:r>
            <a:r>
              <a:rPr dirty="0" sz="3900" spc="-200"/>
              <a:t>the</a:t>
            </a:r>
            <a:r>
              <a:rPr dirty="0" sz="3900" spc="-85"/>
              <a:t> </a:t>
            </a:r>
            <a:r>
              <a:rPr dirty="0" sz="3900" spc="-65"/>
              <a:t>Connected</a:t>
            </a:r>
            <a:r>
              <a:rPr dirty="0" sz="3900" spc="-160"/>
              <a:t> </a:t>
            </a:r>
            <a:r>
              <a:rPr dirty="0" sz="3900" spc="-90"/>
              <a:t>Future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781684" y="1844230"/>
            <a:ext cx="12021185" cy="654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0"/>
              </a:spcBef>
            </a:pP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two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decades,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5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protocol</a:t>
            </a:r>
            <a:r>
              <a:rPr dirty="0" sz="15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550" spc="-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been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272424"/>
                </a:solidFill>
                <a:latin typeface="Tahoma"/>
                <a:cs typeface="Tahoma"/>
              </a:rPr>
              <a:t>cornerstone</a:t>
            </a:r>
            <a:r>
              <a:rPr dirty="0" sz="1550" spc="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550" spc="-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70" b="1">
                <a:solidFill>
                  <a:srgbClr val="272424"/>
                </a:solidFill>
                <a:latin typeface="Tahoma"/>
                <a:cs typeface="Tahoma"/>
              </a:rPr>
              <a:t>modern</a:t>
            </a:r>
            <a:r>
              <a:rPr dirty="0" sz="1550" spc="-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272424"/>
                </a:solidFill>
                <a:latin typeface="Tahoma"/>
                <a:cs typeface="Tahoma"/>
              </a:rPr>
              <a:t>SoC </a:t>
            </a:r>
            <a:r>
              <a:rPr dirty="0" sz="1550" spc="-30" b="1">
                <a:solidFill>
                  <a:srgbClr val="272424"/>
                </a:solidFill>
                <a:latin typeface="Tahoma"/>
                <a:cs typeface="Tahoma"/>
              </a:rPr>
              <a:t>design</a:t>
            </a:r>
            <a:r>
              <a:rPr dirty="0" sz="1550" spc="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silent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enabler</a:t>
            </a:r>
            <a:r>
              <a:rPr dirty="0" sz="1550" spc="-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complex,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interconnected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power</a:t>
            </a:r>
            <a:r>
              <a:rPr dirty="0" sz="155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everything</a:t>
            </a:r>
            <a:r>
              <a:rPr dirty="0" sz="155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72424"/>
                </a:solidFill>
                <a:latin typeface="Tahoma"/>
                <a:cs typeface="Tahoma"/>
              </a:rPr>
              <a:t>wearables</a:t>
            </a:r>
            <a:r>
              <a:rPr dirty="0" sz="1550" spc="-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5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55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centers.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1527" y="2753741"/>
            <a:ext cx="4227830" cy="3227070"/>
            <a:chOff x="791527" y="2753741"/>
            <a:chExt cx="4227830" cy="3227070"/>
          </a:xfrm>
        </p:grpSpPr>
        <p:sp>
          <p:nvSpPr>
            <p:cNvPr id="5" name="object 5"/>
            <p:cNvSpPr/>
            <p:nvPr/>
          </p:nvSpPr>
          <p:spPr>
            <a:xfrm>
              <a:off x="795337" y="2757551"/>
              <a:ext cx="4220210" cy="3219450"/>
            </a:xfrm>
            <a:custGeom>
              <a:avLst/>
              <a:gdLst/>
              <a:ahLst/>
              <a:cxnLst/>
              <a:rect l="l" t="t" r="r" b="b"/>
              <a:pathLst>
                <a:path w="4220210" h="3219450">
                  <a:moveTo>
                    <a:pt x="4136326" y="0"/>
                  </a:moveTo>
                  <a:lnTo>
                    <a:pt x="83286" y="0"/>
                  </a:lnTo>
                  <a:lnTo>
                    <a:pt x="50867" y="6532"/>
                  </a:lnTo>
                  <a:lnTo>
                    <a:pt x="24393" y="24352"/>
                  </a:lnTo>
                  <a:lnTo>
                    <a:pt x="6544" y="50792"/>
                  </a:lnTo>
                  <a:lnTo>
                    <a:pt x="0" y="83185"/>
                  </a:lnTo>
                  <a:lnTo>
                    <a:pt x="0" y="3136138"/>
                  </a:lnTo>
                  <a:lnTo>
                    <a:pt x="6544" y="3168550"/>
                  </a:lnTo>
                  <a:lnTo>
                    <a:pt x="24393" y="3195034"/>
                  </a:lnTo>
                  <a:lnTo>
                    <a:pt x="50867" y="3212897"/>
                  </a:lnTo>
                  <a:lnTo>
                    <a:pt x="83286" y="3219450"/>
                  </a:lnTo>
                  <a:lnTo>
                    <a:pt x="4136326" y="3219450"/>
                  </a:lnTo>
                  <a:lnTo>
                    <a:pt x="4168739" y="3212897"/>
                  </a:lnTo>
                  <a:lnTo>
                    <a:pt x="4195222" y="3195034"/>
                  </a:lnTo>
                  <a:lnTo>
                    <a:pt x="4213086" y="3168550"/>
                  </a:lnTo>
                  <a:lnTo>
                    <a:pt x="4219638" y="3136138"/>
                  </a:lnTo>
                  <a:lnTo>
                    <a:pt x="4219638" y="83185"/>
                  </a:lnTo>
                  <a:lnTo>
                    <a:pt x="4213086" y="50792"/>
                  </a:lnTo>
                  <a:lnTo>
                    <a:pt x="4195222" y="24352"/>
                  </a:lnTo>
                  <a:lnTo>
                    <a:pt x="4168739" y="6532"/>
                  </a:lnTo>
                  <a:lnTo>
                    <a:pt x="413632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95337" y="2757551"/>
              <a:ext cx="4220210" cy="3219450"/>
            </a:xfrm>
            <a:custGeom>
              <a:avLst/>
              <a:gdLst/>
              <a:ahLst/>
              <a:cxnLst/>
              <a:rect l="l" t="t" r="r" b="b"/>
              <a:pathLst>
                <a:path w="4220210" h="3219450">
                  <a:moveTo>
                    <a:pt x="0" y="83185"/>
                  </a:moveTo>
                  <a:lnTo>
                    <a:pt x="6544" y="50792"/>
                  </a:lnTo>
                  <a:lnTo>
                    <a:pt x="24393" y="24352"/>
                  </a:lnTo>
                  <a:lnTo>
                    <a:pt x="50867" y="6532"/>
                  </a:lnTo>
                  <a:lnTo>
                    <a:pt x="83286" y="0"/>
                  </a:lnTo>
                  <a:lnTo>
                    <a:pt x="4136326" y="0"/>
                  </a:lnTo>
                  <a:lnTo>
                    <a:pt x="4168739" y="6532"/>
                  </a:lnTo>
                  <a:lnTo>
                    <a:pt x="4195222" y="24352"/>
                  </a:lnTo>
                  <a:lnTo>
                    <a:pt x="4213086" y="50792"/>
                  </a:lnTo>
                  <a:lnTo>
                    <a:pt x="4219638" y="83185"/>
                  </a:lnTo>
                  <a:lnTo>
                    <a:pt x="4219638" y="3136138"/>
                  </a:lnTo>
                  <a:lnTo>
                    <a:pt x="4213086" y="3168550"/>
                  </a:lnTo>
                  <a:lnTo>
                    <a:pt x="4195222" y="3195034"/>
                  </a:lnTo>
                  <a:lnTo>
                    <a:pt x="4168739" y="3212897"/>
                  </a:lnTo>
                  <a:lnTo>
                    <a:pt x="4136326" y="3219450"/>
                  </a:lnTo>
                  <a:lnTo>
                    <a:pt x="83286" y="3219450"/>
                  </a:lnTo>
                  <a:lnTo>
                    <a:pt x="50867" y="3212897"/>
                  </a:lnTo>
                  <a:lnTo>
                    <a:pt x="24393" y="3195034"/>
                  </a:lnTo>
                  <a:lnTo>
                    <a:pt x="6544" y="3168550"/>
                  </a:lnTo>
                  <a:lnTo>
                    <a:pt x="0" y="3136138"/>
                  </a:lnTo>
                  <a:lnTo>
                    <a:pt x="0" y="83185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00125" y="2952750"/>
              <a:ext cx="590550" cy="600075"/>
            </a:xfrm>
            <a:custGeom>
              <a:avLst/>
              <a:gdLst/>
              <a:ahLst/>
              <a:cxnLst/>
              <a:rect l="l" t="t" r="r" b="b"/>
              <a:pathLst>
                <a:path w="590550" h="600075">
                  <a:moveTo>
                    <a:pt x="295275" y="0"/>
                  </a:moveTo>
                  <a:lnTo>
                    <a:pt x="247378" y="3864"/>
                  </a:lnTo>
                  <a:lnTo>
                    <a:pt x="201943" y="15054"/>
                  </a:lnTo>
                  <a:lnTo>
                    <a:pt x="159577" y="32959"/>
                  </a:lnTo>
                  <a:lnTo>
                    <a:pt x="120887" y="56973"/>
                  </a:lnTo>
                  <a:lnTo>
                    <a:pt x="86482" y="86487"/>
                  </a:lnTo>
                  <a:lnTo>
                    <a:pt x="56969" y="120892"/>
                  </a:lnTo>
                  <a:lnTo>
                    <a:pt x="32957" y="159582"/>
                  </a:lnTo>
                  <a:lnTo>
                    <a:pt x="15052" y="201948"/>
                  </a:lnTo>
                  <a:lnTo>
                    <a:pt x="3864" y="247381"/>
                  </a:lnTo>
                  <a:lnTo>
                    <a:pt x="0" y="295275"/>
                  </a:lnTo>
                  <a:lnTo>
                    <a:pt x="0" y="304800"/>
                  </a:lnTo>
                  <a:lnTo>
                    <a:pt x="3864" y="352693"/>
                  </a:lnTo>
                  <a:lnTo>
                    <a:pt x="15052" y="398126"/>
                  </a:lnTo>
                  <a:lnTo>
                    <a:pt x="32957" y="440492"/>
                  </a:lnTo>
                  <a:lnTo>
                    <a:pt x="56969" y="479182"/>
                  </a:lnTo>
                  <a:lnTo>
                    <a:pt x="86482" y="513588"/>
                  </a:lnTo>
                  <a:lnTo>
                    <a:pt x="120887" y="543101"/>
                  </a:lnTo>
                  <a:lnTo>
                    <a:pt x="159577" y="567115"/>
                  </a:lnTo>
                  <a:lnTo>
                    <a:pt x="201943" y="585020"/>
                  </a:lnTo>
                  <a:lnTo>
                    <a:pt x="247378" y="596210"/>
                  </a:lnTo>
                  <a:lnTo>
                    <a:pt x="295275" y="600075"/>
                  </a:lnTo>
                  <a:lnTo>
                    <a:pt x="343168" y="596210"/>
                  </a:lnTo>
                  <a:lnTo>
                    <a:pt x="388601" y="585020"/>
                  </a:lnTo>
                  <a:lnTo>
                    <a:pt x="430967" y="567115"/>
                  </a:lnTo>
                  <a:lnTo>
                    <a:pt x="469657" y="543101"/>
                  </a:lnTo>
                  <a:lnTo>
                    <a:pt x="504063" y="513588"/>
                  </a:lnTo>
                  <a:lnTo>
                    <a:pt x="533576" y="479182"/>
                  </a:lnTo>
                  <a:lnTo>
                    <a:pt x="557590" y="440492"/>
                  </a:lnTo>
                  <a:lnTo>
                    <a:pt x="575495" y="398126"/>
                  </a:lnTo>
                  <a:lnTo>
                    <a:pt x="586685" y="352693"/>
                  </a:lnTo>
                  <a:lnTo>
                    <a:pt x="590550" y="304800"/>
                  </a:lnTo>
                  <a:lnTo>
                    <a:pt x="590550" y="295275"/>
                  </a:lnTo>
                  <a:lnTo>
                    <a:pt x="586685" y="247381"/>
                  </a:lnTo>
                  <a:lnTo>
                    <a:pt x="575495" y="201948"/>
                  </a:lnTo>
                  <a:lnTo>
                    <a:pt x="557590" y="159582"/>
                  </a:lnTo>
                  <a:lnTo>
                    <a:pt x="533576" y="120892"/>
                  </a:lnTo>
                  <a:lnTo>
                    <a:pt x="504063" y="86487"/>
                  </a:lnTo>
                  <a:lnTo>
                    <a:pt x="469657" y="56973"/>
                  </a:lnTo>
                  <a:lnTo>
                    <a:pt x="430967" y="32959"/>
                  </a:lnTo>
                  <a:lnTo>
                    <a:pt x="388601" y="15054"/>
                  </a:lnTo>
                  <a:lnTo>
                    <a:pt x="343168" y="3864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530" y="3133351"/>
              <a:ext cx="255849" cy="23891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87742" y="3721417"/>
            <a:ext cx="3776345" cy="170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 b="1">
                <a:solidFill>
                  <a:srgbClr val="272424"/>
                </a:solidFill>
                <a:latin typeface="Tahoma"/>
                <a:cs typeface="Tahoma"/>
              </a:rPr>
              <a:t>Proven</a:t>
            </a:r>
            <a:r>
              <a:rPr dirty="0" sz="1950" spc="-9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272424"/>
                </a:solidFill>
                <a:latin typeface="Tahoma"/>
                <a:cs typeface="Tahoma"/>
              </a:rPr>
              <a:t>Architecture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34600"/>
              </a:lnSpc>
              <a:spcBef>
                <a:spcPts val="875"/>
              </a:spcBef>
            </a:pP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5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robust,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well-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understood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master-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slave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model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pipelining,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bursting,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72424"/>
                </a:solidFill>
                <a:latin typeface="Tahoma"/>
                <a:cs typeface="Tahoma"/>
              </a:rPr>
              <a:t>split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transactions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battle-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tested</a:t>
            </a:r>
            <a:r>
              <a:rPr dirty="0" sz="155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across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billions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devices.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11190" y="2753741"/>
            <a:ext cx="4217670" cy="3227070"/>
            <a:chOff x="5211190" y="2753741"/>
            <a:chExt cx="4217670" cy="3227070"/>
          </a:xfrm>
        </p:grpSpPr>
        <p:sp>
          <p:nvSpPr>
            <p:cNvPr id="11" name="object 11"/>
            <p:cNvSpPr/>
            <p:nvPr/>
          </p:nvSpPr>
          <p:spPr>
            <a:xfrm>
              <a:off x="5215000" y="2757551"/>
              <a:ext cx="4210050" cy="3219450"/>
            </a:xfrm>
            <a:custGeom>
              <a:avLst/>
              <a:gdLst/>
              <a:ahLst/>
              <a:cxnLst/>
              <a:rect l="l" t="t" r="r" b="b"/>
              <a:pathLst>
                <a:path w="4210050" h="3219450">
                  <a:moveTo>
                    <a:pt x="4126738" y="0"/>
                  </a:moveTo>
                  <a:lnTo>
                    <a:pt x="83185" y="0"/>
                  </a:lnTo>
                  <a:lnTo>
                    <a:pt x="50792" y="6532"/>
                  </a:lnTo>
                  <a:lnTo>
                    <a:pt x="24352" y="24352"/>
                  </a:lnTo>
                  <a:lnTo>
                    <a:pt x="6532" y="50792"/>
                  </a:lnTo>
                  <a:lnTo>
                    <a:pt x="0" y="83185"/>
                  </a:lnTo>
                  <a:lnTo>
                    <a:pt x="0" y="3136138"/>
                  </a:lnTo>
                  <a:lnTo>
                    <a:pt x="6532" y="3168550"/>
                  </a:lnTo>
                  <a:lnTo>
                    <a:pt x="24352" y="3195034"/>
                  </a:lnTo>
                  <a:lnTo>
                    <a:pt x="50792" y="3212897"/>
                  </a:lnTo>
                  <a:lnTo>
                    <a:pt x="83185" y="3219450"/>
                  </a:lnTo>
                  <a:lnTo>
                    <a:pt x="4126738" y="3219450"/>
                  </a:lnTo>
                  <a:lnTo>
                    <a:pt x="4159150" y="3212897"/>
                  </a:lnTo>
                  <a:lnTo>
                    <a:pt x="4185634" y="3195034"/>
                  </a:lnTo>
                  <a:lnTo>
                    <a:pt x="4203497" y="3168550"/>
                  </a:lnTo>
                  <a:lnTo>
                    <a:pt x="4210050" y="3136138"/>
                  </a:lnTo>
                  <a:lnTo>
                    <a:pt x="4210050" y="83185"/>
                  </a:lnTo>
                  <a:lnTo>
                    <a:pt x="4203497" y="50792"/>
                  </a:lnTo>
                  <a:lnTo>
                    <a:pt x="4185634" y="24352"/>
                  </a:lnTo>
                  <a:lnTo>
                    <a:pt x="4159150" y="6532"/>
                  </a:lnTo>
                  <a:lnTo>
                    <a:pt x="4126738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15000" y="2757551"/>
              <a:ext cx="4210050" cy="3219450"/>
            </a:xfrm>
            <a:custGeom>
              <a:avLst/>
              <a:gdLst/>
              <a:ahLst/>
              <a:cxnLst/>
              <a:rect l="l" t="t" r="r" b="b"/>
              <a:pathLst>
                <a:path w="4210050" h="3219450">
                  <a:moveTo>
                    <a:pt x="0" y="83185"/>
                  </a:moveTo>
                  <a:lnTo>
                    <a:pt x="6532" y="50792"/>
                  </a:lnTo>
                  <a:lnTo>
                    <a:pt x="24352" y="24352"/>
                  </a:lnTo>
                  <a:lnTo>
                    <a:pt x="50792" y="6532"/>
                  </a:lnTo>
                  <a:lnTo>
                    <a:pt x="83185" y="0"/>
                  </a:lnTo>
                  <a:lnTo>
                    <a:pt x="4126738" y="0"/>
                  </a:lnTo>
                  <a:lnTo>
                    <a:pt x="4159150" y="6532"/>
                  </a:lnTo>
                  <a:lnTo>
                    <a:pt x="4185634" y="24352"/>
                  </a:lnTo>
                  <a:lnTo>
                    <a:pt x="4203497" y="50792"/>
                  </a:lnTo>
                  <a:lnTo>
                    <a:pt x="4210050" y="83185"/>
                  </a:lnTo>
                  <a:lnTo>
                    <a:pt x="4210050" y="3136138"/>
                  </a:lnTo>
                  <a:lnTo>
                    <a:pt x="4203497" y="3168550"/>
                  </a:lnTo>
                  <a:lnTo>
                    <a:pt x="4185634" y="3195034"/>
                  </a:lnTo>
                  <a:lnTo>
                    <a:pt x="4159150" y="3212897"/>
                  </a:lnTo>
                  <a:lnTo>
                    <a:pt x="4126738" y="3219450"/>
                  </a:lnTo>
                  <a:lnTo>
                    <a:pt x="83185" y="3219450"/>
                  </a:lnTo>
                  <a:lnTo>
                    <a:pt x="50792" y="3212897"/>
                  </a:lnTo>
                  <a:lnTo>
                    <a:pt x="24352" y="3195034"/>
                  </a:lnTo>
                  <a:lnTo>
                    <a:pt x="6532" y="3168550"/>
                  </a:lnTo>
                  <a:lnTo>
                    <a:pt x="0" y="3136138"/>
                  </a:lnTo>
                  <a:lnTo>
                    <a:pt x="0" y="83185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10199" y="2952750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299974" y="0"/>
                  </a:moveTo>
                  <a:lnTo>
                    <a:pt x="251331" y="3927"/>
                  </a:lnTo>
                  <a:lnTo>
                    <a:pt x="205183" y="15298"/>
                  </a:lnTo>
                  <a:lnTo>
                    <a:pt x="162146" y="33494"/>
                  </a:lnTo>
                  <a:lnTo>
                    <a:pt x="122840" y="57895"/>
                  </a:lnTo>
                  <a:lnTo>
                    <a:pt x="87884" y="87884"/>
                  </a:lnTo>
                  <a:lnTo>
                    <a:pt x="57895" y="122840"/>
                  </a:lnTo>
                  <a:lnTo>
                    <a:pt x="33494" y="162146"/>
                  </a:lnTo>
                  <a:lnTo>
                    <a:pt x="15298" y="205183"/>
                  </a:lnTo>
                  <a:lnTo>
                    <a:pt x="3927" y="251331"/>
                  </a:lnTo>
                  <a:lnTo>
                    <a:pt x="0" y="299974"/>
                  </a:lnTo>
                  <a:lnTo>
                    <a:pt x="3927" y="348650"/>
                  </a:lnTo>
                  <a:lnTo>
                    <a:pt x="15298" y="394826"/>
                  </a:lnTo>
                  <a:lnTo>
                    <a:pt x="33494" y="437884"/>
                  </a:lnTo>
                  <a:lnTo>
                    <a:pt x="57895" y="477207"/>
                  </a:lnTo>
                  <a:lnTo>
                    <a:pt x="87884" y="512175"/>
                  </a:lnTo>
                  <a:lnTo>
                    <a:pt x="122840" y="542171"/>
                  </a:lnTo>
                  <a:lnTo>
                    <a:pt x="162146" y="566577"/>
                  </a:lnTo>
                  <a:lnTo>
                    <a:pt x="205183" y="584775"/>
                  </a:lnTo>
                  <a:lnTo>
                    <a:pt x="251331" y="596147"/>
                  </a:lnTo>
                  <a:lnTo>
                    <a:pt x="300100" y="600075"/>
                  </a:lnTo>
                  <a:lnTo>
                    <a:pt x="348743" y="596147"/>
                  </a:lnTo>
                  <a:lnTo>
                    <a:pt x="394891" y="584775"/>
                  </a:lnTo>
                  <a:lnTo>
                    <a:pt x="437928" y="566577"/>
                  </a:lnTo>
                  <a:lnTo>
                    <a:pt x="477234" y="542171"/>
                  </a:lnTo>
                  <a:lnTo>
                    <a:pt x="512190" y="512175"/>
                  </a:lnTo>
                  <a:lnTo>
                    <a:pt x="542179" y="477207"/>
                  </a:lnTo>
                  <a:lnTo>
                    <a:pt x="566580" y="437884"/>
                  </a:lnTo>
                  <a:lnTo>
                    <a:pt x="584776" y="394826"/>
                  </a:lnTo>
                  <a:lnTo>
                    <a:pt x="596147" y="348650"/>
                  </a:lnTo>
                  <a:lnTo>
                    <a:pt x="600075" y="299974"/>
                  </a:lnTo>
                  <a:lnTo>
                    <a:pt x="596147" y="251331"/>
                  </a:lnTo>
                  <a:lnTo>
                    <a:pt x="584776" y="205183"/>
                  </a:lnTo>
                  <a:lnTo>
                    <a:pt x="566580" y="162146"/>
                  </a:lnTo>
                  <a:lnTo>
                    <a:pt x="542179" y="122840"/>
                  </a:lnTo>
                  <a:lnTo>
                    <a:pt x="512190" y="87884"/>
                  </a:lnTo>
                  <a:lnTo>
                    <a:pt x="477234" y="57895"/>
                  </a:lnTo>
                  <a:lnTo>
                    <a:pt x="437928" y="33494"/>
                  </a:lnTo>
                  <a:lnTo>
                    <a:pt x="394891" y="15298"/>
                  </a:lnTo>
                  <a:lnTo>
                    <a:pt x="348743" y="3927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9568" y="3121229"/>
              <a:ext cx="211864" cy="26392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04103" y="3721417"/>
            <a:ext cx="3325495" cy="170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60" b="1">
                <a:solidFill>
                  <a:srgbClr val="272424"/>
                </a:solidFill>
                <a:latin typeface="Tahoma"/>
                <a:cs typeface="Tahoma"/>
              </a:rPr>
              <a:t>Continuous</a:t>
            </a:r>
            <a:r>
              <a:rPr dirty="0" sz="1950" spc="-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272424"/>
                </a:solidFill>
                <a:latin typeface="Tahoma"/>
                <a:cs typeface="Tahoma"/>
              </a:rPr>
              <a:t>Evolution</a:t>
            </a:r>
            <a:endParaRPr sz="1950">
              <a:latin typeface="Tahoma"/>
              <a:cs typeface="Tahoma"/>
            </a:endParaRPr>
          </a:p>
          <a:p>
            <a:pPr algn="just" marL="12700" marR="5080">
              <a:lnSpc>
                <a:spcPct val="134600"/>
              </a:lnSpc>
              <a:spcBef>
                <a:spcPts val="875"/>
              </a:spcBef>
            </a:pP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dirty="0" sz="15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20">
                <a:solidFill>
                  <a:srgbClr val="272424"/>
                </a:solidFill>
                <a:latin typeface="Tahoma"/>
                <a:cs typeface="Tahoma"/>
              </a:rPr>
              <a:t>AHB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AXI</a:t>
            </a:r>
            <a:r>
              <a:rPr dirty="0" sz="15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CHI, the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14">
                <a:solidFill>
                  <a:srgbClr val="272424"/>
                </a:solidFill>
                <a:latin typeface="Tahoma"/>
                <a:cs typeface="Tahoma"/>
              </a:rPr>
              <a:t>AMBA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family</a:t>
            </a:r>
            <a:r>
              <a:rPr dirty="0" sz="1550" spc="-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has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consistently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pushed</a:t>
            </a:r>
            <a:r>
              <a:rPr dirty="0" sz="1550" spc="-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boundaries</a:t>
            </a:r>
            <a:r>
              <a:rPr dirty="0" sz="1550" spc="-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55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on-</a:t>
            </a:r>
            <a:r>
              <a:rPr dirty="0" sz="1550" spc="80">
                <a:solidFill>
                  <a:srgbClr val="272424"/>
                </a:solidFill>
                <a:latin typeface="Tahoma"/>
                <a:cs typeface="Tahoma"/>
              </a:rPr>
              <a:t>chip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interconnect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performance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550" spc="-1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coherency.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21266" y="2753741"/>
            <a:ext cx="4227195" cy="3227070"/>
            <a:chOff x="9621266" y="2753741"/>
            <a:chExt cx="4227195" cy="3227070"/>
          </a:xfrm>
        </p:grpSpPr>
        <p:sp>
          <p:nvSpPr>
            <p:cNvPr id="17" name="object 17"/>
            <p:cNvSpPr/>
            <p:nvPr/>
          </p:nvSpPr>
          <p:spPr>
            <a:xfrm>
              <a:off x="9625076" y="2757551"/>
              <a:ext cx="4219575" cy="3219450"/>
            </a:xfrm>
            <a:custGeom>
              <a:avLst/>
              <a:gdLst/>
              <a:ahLst/>
              <a:cxnLst/>
              <a:rect l="l" t="t" r="r" b="b"/>
              <a:pathLst>
                <a:path w="4219575" h="3219450">
                  <a:moveTo>
                    <a:pt x="4136262" y="0"/>
                  </a:moveTo>
                  <a:lnTo>
                    <a:pt x="83184" y="0"/>
                  </a:lnTo>
                  <a:lnTo>
                    <a:pt x="50792" y="6532"/>
                  </a:lnTo>
                  <a:lnTo>
                    <a:pt x="24352" y="24352"/>
                  </a:lnTo>
                  <a:lnTo>
                    <a:pt x="6532" y="50792"/>
                  </a:lnTo>
                  <a:lnTo>
                    <a:pt x="0" y="83185"/>
                  </a:lnTo>
                  <a:lnTo>
                    <a:pt x="0" y="3136138"/>
                  </a:lnTo>
                  <a:lnTo>
                    <a:pt x="6532" y="3168550"/>
                  </a:lnTo>
                  <a:lnTo>
                    <a:pt x="24352" y="3195034"/>
                  </a:lnTo>
                  <a:lnTo>
                    <a:pt x="50792" y="3212897"/>
                  </a:lnTo>
                  <a:lnTo>
                    <a:pt x="83184" y="3219450"/>
                  </a:lnTo>
                  <a:lnTo>
                    <a:pt x="4136262" y="3219450"/>
                  </a:lnTo>
                  <a:lnTo>
                    <a:pt x="4168675" y="3212897"/>
                  </a:lnTo>
                  <a:lnTo>
                    <a:pt x="4195159" y="3195034"/>
                  </a:lnTo>
                  <a:lnTo>
                    <a:pt x="4213022" y="3168550"/>
                  </a:lnTo>
                  <a:lnTo>
                    <a:pt x="4219575" y="3136138"/>
                  </a:lnTo>
                  <a:lnTo>
                    <a:pt x="4219575" y="83185"/>
                  </a:lnTo>
                  <a:lnTo>
                    <a:pt x="4213022" y="50792"/>
                  </a:lnTo>
                  <a:lnTo>
                    <a:pt x="4195159" y="24352"/>
                  </a:lnTo>
                  <a:lnTo>
                    <a:pt x="4168675" y="6532"/>
                  </a:lnTo>
                  <a:lnTo>
                    <a:pt x="4136262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625076" y="2757551"/>
              <a:ext cx="4219575" cy="3219450"/>
            </a:xfrm>
            <a:custGeom>
              <a:avLst/>
              <a:gdLst/>
              <a:ahLst/>
              <a:cxnLst/>
              <a:rect l="l" t="t" r="r" b="b"/>
              <a:pathLst>
                <a:path w="4219575" h="3219450">
                  <a:moveTo>
                    <a:pt x="0" y="83185"/>
                  </a:moveTo>
                  <a:lnTo>
                    <a:pt x="6532" y="50792"/>
                  </a:lnTo>
                  <a:lnTo>
                    <a:pt x="24352" y="24352"/>
                  </a:lnTo>
                  <a:lnTo>
                    <a:pt x="50792" y="6532"/>
                  </a:lnTo>
                  <a:lnTo>
                    <a:pt x="83184" y="0"/>
                  </a:lnTo>
                  <a:lnTo>
                    <a:pt x="4136262" y="0"/>
                  </a:lnTo>
                  <a:lnTo>
                    <a:pt x="4168675" y="6532"/>
                  </a:lnTo>
                  <a:lnTo>
                    <a:pt x="4195159" y="24352"/>
                  </a:lnTo>
                  <a:lnTo>
                    <a:pt x="4213022" y="50792"/>
                  </a:lnTo>
                  <a:lnTo>
                    <a:pt x="4219575" y="83185"/>
                  </a:lnTo>
                  <a:lnTo>
                    <a:pt x="4219575" y="3136138"/>
                  </a:lnTo>
                  <a:lnTo>
                    <a:pt x="4213022" y="3168550"/>
                  </a:lnTo>
                  <a:lnTo>
                    <a:pt x="4195159" y="3195034"/>
                  </a:lnTo>
                  <a:lnTo>
                    <a:pt x="4168675" y="3212897"/>
                  </a:lnTo>
                  <a:lnTo>
                    <a:pt x="4136262" y="3219450"/>
                  </a:lnTo>
                  <a:lnTo>
                    <a:pt x="83184" y="3219450"/>
                  </a:lnTo>
                  <a:lnTo>
                    <a:pt x="50792" y="3212897"/>
                  </a:lnTo>
                  <a:lnTo>
                    <a:pt x="24352" y="3195034"/>
                  </a:lnTo>
                  <a:lnTo>
                    <a:pt x="6532" y="3168550"/>
                  </a:lnTo>
                  <a:lnTo>
                    <a:pt x="0" y="3136138"/>
                  </a:lnTo>
                  <a:lnTo>
                    <a:pt x="0" y="83185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829800" y="2952750"/>
              <a:ext cx="590550" cy="600075"/>
            </a:xfrm>
            <a:custGeom>
              <a:avLst/>
              <a:gdLst/>
              <a:ahLst/>
              <a:cxnLst/>
              <a:rect l="l" t="t" r="r" b="b"/>
              <a:pathLst>
                <a:path w="590550" h="600075">
                  <a:moveTo>
                    <a:pt x="295275" y="0"/>
                  </a:moveTo>
                  <a:lnTo>
                    <a:pt x="247381" y="3864"/>
                  </a:lnTo>
                  <a:lnTo>
                    <a:pt x="201948" y="15054"/>
                  </a:lnTo>
                  <a:lnTo>
                    <a:pt x="159582" y="32959"/>
                  </a:lnTo>
                  <a:lnTo>
                    <a:pt x="120892" y="56973"/>
                  </a:lnTo>
                  <a:lnTo>
                    <a:pt x="86487" y="86487"/>
                  </a:lnTo>
                  <a:lnTo>
                    <a:pt x="56973" y="120892"/>
                  </a:lnTo>
                  <a:lnTo>
                    <a:pt x="32959" y="159582"/>
                  </a:lnTo>
                  <a:lnTo>
                    <a:pt x="15054" y="201948"/>
                  </a:lnTo>
                  <a:lnTo>
                    <a:pt x="3864" y="247381"/>
                  </a:lnTo>
                  <a:lnTo>
                    <a:pt x="0" y="295275"/>
                  </a:lnTo>
                  <a:lnTo>
                    <a:pt x="0" y="304800"/>
                  </a:lnTo>
                  <a:lnTo>
                    <a:pt x="3864" y="352693"/>
                  </a:lnTo>
                  <a:lnTo>
                    <a:pt x="15054" y="398126"/>
                  </a:lnTo>
                  <a:lnTo>
                    <a:pt x="32959" y="440492"/>
                  </a:lnTo>
                  <a:lnTo>
                    <a:pt x="56973" y="479182"/>
                  </a:lnTo>
                  <a:lnTo>
                    <a:pt x="86487" y="513588"/>
                  </a:lnTo>
                  <a:lnTo>
                    <a:pt x="120892" y="543101"/>
                  </a:lnTo>
                  <a:lnTo>
                    <a:pt x="159582" y="567115"/>
                  </a:lnTo>
                  <a:lnTo>
                    <a:pt x="201948" y="585020"/>
                  </a:lnTo>
                  <a:lnTo>
                    <a:pt x="247381" y="596210"/>
                  </a:lnTo>
                  <a:lnTo>
                    <a:pt x="295275" y="600075"/>
                  </a:lnTo>
                  <a:lnTo>
                    <a:pt x="343168" y="596210"/>
                  </a:lnTo>
                  <a:lnTo>
                    <a:pt x="388601" y="585020"/>
                  </a:lnTo>
                  <a:lnTo>
                    <a:pt x="430967" y="567115"/>
                  </a:lnTo>
                  <a:lnTo>
                    <a:pt x="469657" y="543101"/>
                  </a:lnTo>
                  <a:lnTo>
                    <a:pt x="504062" y="513588"/>
                  </a:lnTo>
                  <a:lnTo>
                    <a:pt x="533576" y="479182"/>
                  </a:lnTo>
                  <a:lnTo>
                    <a:pt x="557590" y="440492"/>
                  </a:lnTo>
                  <a:lnTo>
                    <a:pt x="575495" y="398126"/>
                  </a:lnTo>
                  <a:lnTo>
                    <a:pt x="586685" y="352693"/>
                  </a:lnTo>
                  <a:lnTo>
                    <a:pt x="590550" y="304800"/>
                  </a:lnTo>
                  <a:lnTo>
                    <a:pt x="590550" y="295275"/>
                  </a:lnTo>
                  <a:lnTo>
                    <a:pt x="586685" y="247381"/>
                  </a:lnTo>
                  <a:lnTo>
                    <a:pt x="575495" y="201948"/>
                  </a:lnTo>
                  <a:lnTo>
                    <a:pt x="557590" y="159582"/>
                  </a:lnTo>
                  <a:lnTo>
                    <a:pt x="533576" y="120892"/>
                  </a:lnTo>
                  <a:lnTo>
                    <a:pt x="504062" y="86487"/>
                  </a:lnTo>
                  <a:lnTo>
                    <a:pt x="469657" y="56973"/>
                  </a:lnTo>
                  <a:lnTo>
                    <a:pt x="430967" y="32959"/>
                  </a:lnTo>
                  <a:lnTo>
                    <a:pt x="388601" y="15054"/>
                  </a:lnTo>
                  <a:lnTo>
                    <a:pt x="343168" y="3864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97264" y="3120952"/>
              <a:ext cx="255679" cy="26368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820909" y="3721417"/>
            <a:ext cx="3614420" cy="2021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70" b="1">
                <a:solidFill>
                  <a:srgbClr val="272424"/>
                </a:solidFill>
                <a:latin typeface="Tahoma"/>
                <a:cs typeface="Tahoma"/>
              </a:rPr>
              <a:t>Critical</a:t>
            </a:r>
            <a:r>
              <a:rPr dirty="0" sz="1950" spc="-7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20" b="1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9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272424"/>
                </a:solidFill>
                <a:latin typeface="Tahoma"/>
                <a:cs typeface="Tahoma"/>
              </a:rPr>
              <a:t>Tomorrow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 spc="13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AI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accelerators,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heterogeneous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compute,</a:t>
            </a:r>
            <a:r>
              <a:rPr dirty="0" sz="15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550" spc="-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72424"/>
                </a:solidFill>
                <a:latin typeface="Tahoma"/>
                <a:cs typeface="Tahoma"/>
              </a:rPr>
              <a:t>advanced</a:t>
            </a:r>
            <a:r>
              <a:rPr dirty="0" sz="1550" spc="-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72424"/>
                </a:solidFill>
                <a:latin typeface="Tahoma"/>
                <a:cs typeface="Tahoma"/>
              </a:rPr>
              <a:t>packaging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redefine</a:t>
            </a:r>
            <a:r>
              <a:rPr dirty="0" sz="15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0">
                <a:solidFill>
                  <a:srgbClr val="272424"/>
                </a:solidFill>
                <a:latin typeface="Tahoma"/>
                <a:cs typeface="Tahoma"/>
              </a:rPr>
              <a:t>SoC</a:t>
            </a:r>
            <a:r>
              <a:rPr dirty="0" sz="15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design,</a:t>
            </a:r>
            <a:r>
              <a:rPr dirty="0" sz="15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155">
                <a:solidFill>
                  <a:srgbClr val="272424"/>
                </a:solidFill>
                <a:latin typeface="Tahoma"/>
                <a:cs typeface="Tahoma"/>
              </a:rPr>
              <a:t>AMBA</a:t>
            </a:r>
            <a:r>
              <a:rPr dirty="0" sz="15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72424"/>
                </a:solidFill>
                <a:latin typeface="Tahoma"/>
                <a:cs typeface="Tahoma"/>
              </a:rPr>
              <a:t>protocols </a:t>
            </a:r>
            <a:r>
              <a:rPr dirty="0" sz="1550" spc="55">
                <a:solidFill>
                  <a:srgbClr val="272424"/>
                </a:solidFill>
                <a:latin typeface="Tahoma"/>
                <a:cs typeface="Tahoma"/>
              </a:rPr>
              <a:t>remain</a:t>
            </a:r>
            <a:r>
              <a:rPr dirty="0" sz="15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connective</a:t>
            </a:r>
            <a:r>
              <a:rPr dirty="0" sz="15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72424"/>
                </a:solidFill>
                <a:latin typeface="Tahoma"/>
                <a:cs typeface="Tahoma"/>
              </a:rPr>
              <a:t>tissue</a:t>
            </a:r>
            <a:r>
              <a:rPr dirty="0" sz="15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72424"/>
                </a:solidFill>
                <a:latin typeface="Tahoma"/>
                <a:cs typeface="Tahoma"/>
              </a:rPr>
              <a:t>holding</a:t>
            </a:r>
            <a:r>
              <a:rPr dirty="0" sz="15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Tahoma"/>
                <a:cs typeface="Tahoma"/>
              </a:rPr>
              <a:t>it </a:t>
            </a:r>
            <a:r>
              <a:rPr dirty="0" sz="1550">
                <a:solidFill>
                  <a:srgbClr val="272424"/>
                </a:solidFill>
                <a:latin typeface="Tahoma"/>
                <a:cs typeface="Tahoma"/>
              </a:rPr>
              <a:t>all</a:t>
            </a:r>
            <a:r>
              <a:rPr dirty="0" sz="155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Tahoma"/>
                <a:cs typeface="Tahoma"/>
              </a:rPr>
              <a:t>together.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90575" y="6191250"/>
            <a:ext cx="13049250" cy="1162050"/>
            <a:chOff x="790575" y="6191250"/>
            <a:chExt cx="13049250" cy="1162050"/>
          </a:xfrm>
        </p:grpSpPr>
        <p:sp>
          <p:nvSpPr>
            <p:cNvPr id="23" name="object 23"/>
            <p:cNvSpPr/>
            <p:nvPr/>
          </p:nvSpPr>
          <p:spPr>
            <a:xfrm>
              <a:off x="790575" y="6191250"/>
              <a:ext cx="13049250" cy="1162050"/>
            </a:xfrm>
            <a:custGeom>
              <a:avLst/>
              <a:gdLst/>
              <a:ahLst/>
              <a:cxnLst/>
              <a:rect l="l" t="t" r="r" b="b"/>
              <a:pathLst>
                <a:path w="13049250" h="1162050">
                  <a:moveTo>
                    <a:pt x="12965811" y="0"/>
                  </a:moveTo>
                  <a:lnTo>
                    <a:pt x="83451" y="0"/>
                  </a:lnTo>
                  <a:lnTo>
                    <a:pt x="50968" y="6554"/>
                  </a:lnTo>
                  <a:lnTo>
                    <a:pt x="24442" y="24431"/>
                  </a:lnTo>
                  <a:lnTo>
                    <a:pt x="6558" y="50952"/>
                  </a:lnTo>
                  <a:lnTo>
                    <a:pt x="0" y="83438"/>
                  </a:lnTo>
                  <a:lnTo>
                    <a:pt x="0" y="1078598"/>
                  </a:lnTo>
                  <a:lnTo>
                    <a:pt x="6558" y="1111081"/>
                  </a:lnTo>
                  <a:lnTo>
                    <a:pt x="24442" y="1137607"/>
                  </a:lnTo>
                  <a:lnTo>
                    <a:pt x="50968" y="1155491"/>
                  </a:lnTo>
                  <a:lnTo>
                    <a:pt x="83451" y="1162050"/>
                  </a:lnTo>
                  <a:lnTo>
                    <a:pt x="12965811" y="1162050"/>
                  </a:lnTo>
                  <a:lnTo>
                    <a:pt x="12998297" y="1155491"/>
                  </a:lnTo>
                  <a:lnTo>
                    <a:pt x="13024818" y="1137607"/>
                  </a:lnTo>
                  <a:lnTo>
                    <a:pt x="13042695" y="1111081"/>
                  </a:lnTo>
                  <a:lnTo>
                    <a:pt x="13049250" y="1078598"/>
                  </a:lnTo>
                  <a:lnTo>
                    <a:pt x="13049250" y="83438"/>
                  </a:lnTo>
                  <a:lnTo>
                    <a:pt x="13042695" y="50952"/>
                  </a:lnTo>
                  <a:lnTo>
                    <a:pt x="13024818" y="24431"/>
                  </a:lnTo>
                  <a:lnTo>
                    <a:pt x="12998297" y="6554"/>
                  </a:lnTo>
                  <a:lnTo>
                    <a:pt x="12965811" y="0"/>
                  </a:lnTo>
                  <a:close/>
                </a:path>
              </a:pathLst>
            </a:custGeom>
            <a:solidFill>
              <a:srgbClr val="B6D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600" y="6496050"/>
              <a:ext cx="247650" cy="2000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26844" y="6401371"/>
            <a:ext cx="11827510" cy="655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dirty="0" sz="1550" spc="-20" b="1">
                <a:latin typeface="Tahoma"/>
                <a:cs typeface="Tahoma"/>
              </a:rPr>
              <a:t>Key</a:t>
            </a:r>
            <a:r>
              <a:rPr dirty="0" sz="1550" spc="-45" b="1">
                <a:latin typeface="Tahoma"/>
                <a:cs typeface="Tahoma"/>
              </a:rPr>
              <a:t> </a:t>
            </a:r>
            <a:r>
              <a:rPr dirty="0" sz="1550" spc="-50" b="1">
                <a:latin typeface="Tahoma"/>
                <a:cs typeface="Tahoma"/>
              </a:rPr>
              <a:t>Takeaway:</a:t>
            </a:r>
            <a:r>
              <a:rPr dirty="0" sz="1550" spc="-5" b="1">
                <a:latin typeface="Tahoma"/>
                <a:cs typeface="Tahoma"/>
              </a:rPr>
              <a:t> </a:t>
            </a:r>
            <a:r>
              <a:rPr dirty="0" sz="1550" spc="155">
                <a:latin typeface="Tahoma"/>
                <a:cs typeface="Tahoma"/>
              </a:rPr>
              <a:t>AMBA</a:t>
            </a:r>
            <a:r>
              <a:rPr dirty="0" sz="1550" spc="-45">
                <a:latin typeface="Tahoma"/>
                <a:cs typeface="Tahoma"/>
              </a:rPr>
              <a:t> </a:t>
            </a:r>
            <a:r>
              <a:rPr dirty="0" sz="1550" spc="100">
                <a:latin typeface="Tahoma"/>
                <a:cs typeface="Tahoma"/>
              </a:rPr>
              <a:t>AHB</a:t>
            </a:r>
            <a:r>
              <a:rPr dirty="0" sz="1550" spc="15">
                <a:latin typeface="Tahoma"/>
                <a:cs typeface="Tahoma"/>
              </a:rPr>
              <a:t> </a:t>
            </a:r>
            <a:r>
              <a:rPr dirty="0" sz="1550" spc="80">
                <a:latin typeface="Tahoma"/>
                <a:cs typeface="Tahoma"/>
              </a:rPr>
              <a:t>is</a:t>
            </a:r>
            <a:r>
              <a:rPr dirty="0" sz="1550" spc="-90">
                <a:latin typeface="Tahoma"/>
                <a:cs typeface="Tahoma"/>
              </a:rPr>
              <a:t> </a:t>
            </a:r>
            <a:r>
              <a:rPr dirty="0" sz="1550" spc="75">
                <a:latin typeface="Tahoma"/>
                <a:cs typeface="Tahoma"/>
              </a:rPr>
              <a:t>more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than</a:t>
            </a:r>
            <a:r>
              <a:rPr dirty="0" sz="1550" spc="-35">
                <a:latin typeface="Tahoma"/>
                <a:cs typeface="Tahoma"/>
              </a:rPr>
              <a:t> </a:t>
            </a:r>
            <a:r>
              <a:rPr dirty="0" sz="1550" spc="70">
                <a:latin typeface="Tahoma"/>
                <a:cs typeface="Tahoma"/>
              </a:rPr>
              <a:t>a</a:t>
            </a:r>
            <a:r>
              <a:rPr dirty="0" sz="1550" spc="10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protocol</a:t>
            </a:r>
            <a:r>
              <a:rPr dirty="0" sz="1550">
                <a:latin typeface="Tahoma"/>
                <a:cs typeface="Tahoma"/>
              </a:rPr>
              <a:t> </a:t>
            </a:r>
            <a:r>
              <a:rPr dirty="0" sz="1550" spc="155">
                <a:latin typeface="Tahoma"/>
                <a:cs typeface="Tahoma"/>
              </a:rPr>
              <a:t>—</a:t>
            </a:r>
            <a:r>
              <a:rPr dirty="0" sz="1550" spc="-45">
                <a:latin typeface="Tahoma"/>
                <a:cs typeface="Tahoma"/>
              </a:rPr>
              <a:t> </a:t>
            </a:r>
            <a:r>
              <a:rPr dirty="0" sz="1550" spc="70">
                <a:latin typeface="Tahoma"/>
                <a:cs typeface="Tahoma"/>
              </a:rPr>
              <a:t>it's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an</a:t>
            </a:r>
            <a:r>
              <a:rPr dirty="0" sz="1550" spc="-35">
                <a:latin typeface="Tahoma"/>
                <a:cs typeface="Tahoma"/>
              </a:rPr>
              <a:t> </a:t>
            </a:r>
            <a:r>
              <a:rPr dirty="0" sz="1550" spc="80">
                <a:latin typeface="Tahoma"/>
                <a:cs typeface="Tahoma"/>
              </a:rPr>
              <a:t>ecosystem.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Its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 spc="75">
                <a:latin typeface="Tahoma"/>
                <a:cs typeface="Tahoma"/>
              </a:rPr>
              <a:t>open</a:t>
            </a:r>
            <a:r>
              <a:rPr dirty="0" sz="1550" spc="-3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standard,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 spc="65">
                <a:latin typeface="Tahoma"/>
                <a:cs typeface="Tahoma"/>
              </a:rPr>
              <a:t>royalty-</a:t>
            </a:r>
            <a:r>
              <a:rPr dirty="0" sz="1550" spc="80">
                <a:latin typeface="Tahoma"/>
                <a:cs typeface="Tahoma"/>
              </a:rPr>
              <a:t>free</a:t>
            </a:r>
            <a:r>
              <a:rPr dirty="0" sz="1550" spc="-100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model,</a:t>
            </a:r>
            <a:r>
              <a:rPr dirty="0" sz="1550" spc="-85">
                <a:latin typeface="Tahoma"/>
                <a:cs typeface="Tahoma"/>
              </a:rPr>
              <a:t> </a:t>
            </a:r>
            <a:r>
              <a:rPr dirty="0" sz="1550" spc="70">
                <a:latin typeface="Tahoma"/>
                <a:cs typeface="Tahoma"/>
              </a:rPr>
              <a:t>and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55">
                <a:latin typeface="Tahoma"/>
                <a:cs typeface="Tahoma"/>
              </a:rPr>
              <a:t>continuous </a:t>
            </a:r>
            <a:r>
              <a:rPr dirty="0" sz="1550" spc="50">
                <a:latin typeface="Tahoma"/>
                <a:cs typeface="Tahoma"/>
              </a:rPr>
              <a:t>evolution</a:t>
            </a:r>
            <a:r>
              <a:rPr dirty="0" sz="1550" spc="-50">
                <a:latin typeface="Tahoma"/>
                <a:cs typeface="Tahoma"/>
              </a:rPr>
              <a:t> </a:t>
            </a:r>
            <a:r>
              <a:rPr dirty="0" sz="1550" spc="85">
                <a:latin typeface="Tahoma"/>
                <a:cs typeface="Tahoma"/>
              </a:rPr>
              <a:t>make</a:t>
            </a:r>
            <a:r>
              <a:rPr dirty="0" sz="1550" spc="-1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it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65">
                <a:latin typeface="Tahoma"/>
                <a:cs typeface="Tahoma"/>
              </a:rPr>
              <a:t>indispensable</a:t>
            </a:r>
            <a:r>
              <a:rPr dirty="0" sz="1550" spc="-40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for</a:t>
            </a:r>
            <a:r>
              <a:rPr dirty="0" sz="1550" spc="-80">
                <a:latin typeface="Tahoma"/>
                <a:cs typeface="Tahoma"/>
              </a:rPr>
              <a:t> </a:t>
            </a:r>
            <a:r>
              <a:rPr dirty="0" sz="1550" spc="75">
                <a:latin typeface="Tahoma"/>
                <a:cs typeface="Tahoma"/>
              </a:rPr>
              <a:t>next-</a:t>
            </a:r>
            <a:r>
              <a:rPr dirty="0" sz="1550" spc="55">
                <a:latin typeface="Tahoma"/>
                <a:cs typeface="Tahoma"/>
              </a:rPr>
              <a:t>generation</a:t>
            </a:r>
            <a:r>
              <a:rPr dirty="0" sz="1550" spc="-50">
                <a:latin typeface="Tahoma"/>
                <a:cs typeface="Tahoma"/>
              </a:rPr>
              <a:t> </a:t>
            </a:r>
            <a:r>
              <a:rPr dirty="0" sz="1550" spc="75">
                <a:latin typeface="Tahoma"/>
                <a:cs typeface="Tahoma"/>
              </a:rPr>
              <a:t>embedded</a:t>
            </a:r>
            <a:r>
              <a:rPr dirty="0" sz="1550" spc="-80">
                <a:latin typeface="Tahoma"/>
                <a:cs typeface="Tahoma"/>
              </a:rPr>
              <a:t> </a:t>
            </a:r>
            <a:r>
              <a:rPr dirty="0" sz="1550" spc="70">
                <a:latin typeface="Tahoma"/>
                <a:cs typeface="Tahoma"/>
              </a:rPr>
              <a:t>and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125">
                <a:latin typeface="Tahoma"/>
                <a:cs typeface="Tahoma"/>
              </a:rPr>
              <a:t>SoC</a:t>
            </a:r>
            <a:r>
              <a:rPr dirty="0" sz="1550" spc="-40">
                <a:latin typeface="Tahoma"/>
                <a:cs typeface="Tahoma"/>
              </a:rPr>
              <a:t> </a:t>
            </a:r>
            <a:r>
              <a:rPr dirty="0" sz="1550" spc="55">
                <a:latin typeface="Tahoma"/>
                <a:cs typeface="Tahoma"/>
              </a:rPr>
              <a:t>design.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2026-04-16T09:17:19Z</dcterms:created>
  <dcterms:modified xsi:type="dcterms:W3CDTF">2026-04-16T09:17:19Z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2026-04-16T00:00:00Z</vt:filetime>
  </property>
  <property fmtid="{D5CDD505-2E9C-101B-9397-08002B2CF9AE}" pid="3" name="LastSaved">
    <vt:filetime>2026-04-16T00:00:00Z</vt:filetime>
  </property>
</Properties>
</file>